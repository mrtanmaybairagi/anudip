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0"/>
  </p:notesMasterIdLst>
  <p:sldIdLst>
    <p:sldId id="530" r:id="rId5"/>
    <p:sldId id="531" r:id="rId6"/>
    <p:sldId id="533" r:id="rId7"/>
    <p:sldId id="547" r:id="rId8"/>
    <p:sldId id="548" r:id="rId9"/>
    <p:sldId id="549" r:id="rId10"/>
    <p:sldId id="550" r:id="rId11"/>
    <p:sldId id="551" r:id="rId12"/>
    <p:sldId id="552" r:id="rId13"/>
    <p:sldId id="553" r:id="rId14"/>
    <p:sldId id="554" r:id="rId15"/>
    <p:sldId id="555" r:id="rId16"/>
    <p:sldId id="556" r:id="rId17"/>
    <p:sldId id="557" r:id="rId18"/>
    <p:sldId id="558" r:id="rId19"/>
    <p:sldId id="559" r:id="rId20"/>
    <p:sldId id="560" r:id="rId21"/>
    <p:sldId id="561" r:id="rId22"/>
    <p:sldId id="562" r:id="rId23"/>
    <p:sldId id="563" r:id="rId24"/>
    <p:sldId id="564" r:id="rId25"/>
    <p:sldId id="565" r:id="rId26"/>
    <p:sldId id="566" r:id="rId27"/>
    <p:sldId id="567" r:id="rId28"/>
    <p:sldId id="568" r:id="rId29"/>
    <p:sldId id="569" r:id="rId30"/>
    <p:sldId id="570" r:id="rId31"/>
    <p:sldId id="571" r:id="rId32"/>
    <p:sldId id="572" r:id="rId33"/>
    <p:sldId id="573" r:id="rId34"/>
    <p:sldId id="574" r:id="rId35"/>
    <p:sldId id="575" r:id="rId36"/>
    <p:sldId id="576" r:id="rId37"/>
    <p:sldId id="577" r:id="rId38"/>
    <p:sldId id="578" r:id="rId39"/>
    <p:sldId id="579" r:id="rId40"/>
    <p:sldId id="580" r:id="rId41"/>
    <p:sldId id="581" r:id="rId42"/>
    <p:sldId id="582" r:id="rId43"/>
    <p:sldId id="585" r:id="rId44"/>
    <p:sldId id="583" r:id="rId45"/>
    <p:sldId id="584" r:id="rId46"/>
    <p:sldId id="586" r:id="rId47"/>
    <p:sldId id="587" r:id="rId48"/>
    <p:sldId id="588" r:id="rId49"/>
    <p:sldId id="589" r:id="rId50"/>
    <p:sldId id="590" r:id="rId51"/>
    <p:sldId id="591" r:id="rId52"/>
    <p:sldId id="592" r:id="rId53"/>
    <p:sldId id="593" r:id="rId54"/>
    <p:sldId id="594" r:id="rId55"/>
    <p:sldId id="595" r:id="rId56"/>
    <p:sldId id="596" r:id="rId57"/>
    <p:sldId id="597" r:id="rId58"/>
    <p:sldId id="598" r:id="rId59"/>
    <p:sldId id="599" r:id="rId60"/>
    <p:sldId id="600" r:id="rId61"/>
    <p:sldId id="601" r:id="rId62"/>
    <p:sldId id="602" r:id="rId63"/>
    <p:sldId id="603" r:id="rId64"/>
    <p:sldId id="604" r:id="rId65"/>
    <p:sldId id="605" r:id="rId66"/>
    <p:sldId id="608" r:id="rId67"/>
    <p:sldId id="609" r:id="rId68"/>
    <p:sldId id="606" r:id="rId69"/>
    <p:sldId id="607" r:id="rId70"/>
    <p:sldId id="534" r:id="rId71"/>
    <p:sldId id="610" r:id="rId72"/>
    <p:sldId id="611" r:id="rId73"/>
    <p:sldId id="612" r:id="rId74"/>
    <p:sldId id="613" r:id="rId75"/>
    <p:sldId id="614" r:id="rId76"/>
    <p:sldId id="615" r:id="rId77"/>
    <p:sldId id="616" r:id="rId78"/>
    <p:sldId id="544"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472400-F3CA-422B-997F-27893F723616}" v="396" dt="2026-07-26T05:44:39.515"/>
    <p1510:client id="{DAFAAB09-5CC5-4798-BE74-62A95B670227}" v="389" dt="2026-07-25T07:10:24.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422"/>
  </p:normalViewPr>
  <p:slideViewPr>
    <p:cSldViewPr snapToGrid="0">
      <p:cViewPr varScale="1">
        <p:scale>
          <a:sx n="77" d="100"/>
          <a:sy n="77" d="100"/>
        </p:scale>
        <p:origin x="58"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commentAuthors" Target="commentAuthor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8/10/relationships/authors" Target="authors.xml"/><Relationship Id="rId61" Type="http://schemas.openxmlformats.org/officeDocument/2006/relationships/slide" Target="slides/slide57.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7/25/2026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dirty="0"/>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dirty="0"/>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dirty="0"/>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dirty="0"/>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sz="6000"/>
              <a:t>IT</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1536192" y="193475"/>
            <a:ext cx="8878824" cy="1069848"/>
          </a:xfrm>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536192" y="1378277"/>
            <a:ext cx="7576021" cy="4603496"/>
          </a:xfrm>
        </p:spPr>
        <p:txBody>
          <a:bodyPr vert="horz" lIns="91440" tIns="45720" rIns="91440" bIns="45720" rtlCol="0" anchor="t">
            <a:noAutofit/>
          </a:bodyPr>
          <a:lstStyle/>
          <a:p>
            <a:pPr marL="342900" indent="-342900"/>
            <a:r>
              <a:rPr lang="en-US">
                <a:latin typeface="Segoe UI Light"/>
                <a:cs typeface="Segoe UI Light"/>
              </a:rPr>
              <a:t>Introduct to IT and Business Systems</a:t>
            </a:r>
            <a:endParaRPr lang="en-US">
              <a:cs typeface="Segoe UI Light"/>
            </a:endParaRPr>
          </a:p>
          <a:p>
            <a:pPr marL="342900" indent="-342900"/>
            <a:r>
              <a:rPr lang="en-US">
                <a:latin typeface="Segoe UI Light"/>
                <a:cs typeface="Segoe UI Light"/>
              </a:rPr>
              <a:t>Data Types, Sources, and Lifecycle</a:t>
            </a:r>
          </a:p>
          <a:p>
            <a:pPr marL="342900" indent="-342900"/>
            <a:r>
              <a:rPr lang="en-US">
                <a:latin typeface="Segoe UI Light"/>
                <a:cs typeface="Segoe UI Light"/>
              </a:rPr>
              <a:t>Introduction to Business Analyst Role</a:t>
            </a:r>
          </a:p>
          <a:p>
            <a:pPr marL="342900" indent="-342900"/>
            <a:r>
              <a:rPr lang="en-US">
                <a:latin typeface="Segoe UI Light"/>
                <a:cs typeface="Segoe UI Light"/>
              </a:rPr>
              <a:t>Data vs. Information</a:t>
            </a:r>
          </a:p>
          <a:p>
            <a:pPr marL="342900" indent="-342900"/>
            <a:r>
              <a:rPr lang="en-US">
                <a:latin typeface="Segoe UI Light"/>
                <a:cs typeface="Segoe UI Light"/>
              </a:rPr>
              <a:t>Overview of Data-Driven Decision Making</a:t>
            </a:r>
          </a:p>
          <a:p>
            <a:pPr marL="342900" indent="-342900"/>
            <a:r>
              <a:rPr lang="en-US">
                <a:latin typeface="Segoe UI Light"/>
                <a:cs typeface="Segoe UI Light"/>
              </a:rPr>
              <a:t>Case Discussion/Real-Life examples</a:t>
            </a:r>
            <a:endParaRPr lang="en-US" dirty="0">
              <a:latin typeface="Segoe UI Light"/>
              <a:cs typeface="Segoe UI Light"/>
            </a:endParaRPr>
          </a:p>
          <a:p>
            <a:pPr marL="342900" indent="-342900"/>
            <a:r>
              <a:rPr lang="en-US">
                <a:latin typeface="Segoe UI Light"/>
                <a:cs typeface="Segoe UI Light"/>
              </a:rPr>
              <a:t>Introduction to Data Governance &amp; Data Ethics</a:t>
            </a:r>
            <a:endParaRPr lang="en-US" dirty="0">
              <a:latin typeface="Segoe UI Light"/>
              <a:cs typeface="Segoe UI Light"/>
            </a:endParaRPr>
          </a:p>
          <a:p>
            <a:pPr marL="342900" indent="-342900"/>
            <a:endParaRPr lang="en-US" dirty="0">
              <a:latin typeface="Segoe UI Light"/>
              <a:cs typeface="Segoe UI Light"/>
            </a:endParaRPr>
          </a:p>
          <a:p>
            <a:pPr marL="342900" indent="-342900"/>
            <a:endParaRPr lang="en-US" dirty="0">
              <a:latin typeface="Segoe UI Light"/>
              <a:cs typeface="Segoe UI Light"/>
            </a:endParaRPr>
          </a:p>
          <a:p>
            <a:pPr marL="342900" indent="-342900"/>
            <a:endParaRPr lang="en-US" dirty="0">
              <a:latin typeface="Segoe UI Light"/>
              <a:cs typeface="Segoe UI Light"/>
            </a:endParaRP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a:xfrm>
            <a:off x="2329688" y="2890955"/>
            <a:ext cx="7735824" cy="1069848"/>
          </a:xfrm>
        </p:spPr>
        <p:txBody>
          <a:bodyPr vert="horz" lIns="91440" tIns="45720" rIns="91440" bIns="45720" rtlCol="0" anchor="ctr">
            <a:noAutofit/>
          </a:bodyPr>
          <a:lstStyle/>
          <a:p>
            <a:r>
              <a:rPr lang="en-US" sz="4800" b="0"/>
              <a:t>Introduction to IT andBusiness Systems</a:t>
            </a:r>
            <a:endParaRPr lang="en-US"/>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FE802-81DC-F54D-A997-0415B1463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99B3A-F8C4-414F-C632-F30CE11D7999}"/>
              </a:ext>
            </a:extLst>
          </p:cNvPr>
          <p:cNvSpPr>
            <a:spLocks noGrp="1"/>
          </p:cNvSpPr>
          <p:nvPr>
            <p:ph type="title"/>
          </p:nvPr>
        </p:nvSpPr>
        <p:spPr>
          <a:xfrm>
            <a:off x="1318477" y="309589"/>
            <a:ext cx="10576995" cy="1069848"/>
          </a:xfrm>
        </p:spPr>
        <p:txBody>
          <a:bodyPr>
            <a:normAutofit fontScale="90000"/>
          </a:bodyPr>
          <a:lstStyle/>
          <a:p>
            <a:r>
              <a:rPr lang="en-US" sz="4800" b="0">
                <a:ln w="28575">
                  <a:noFill/>
                  <a:prstDash val="solid"/>
                </a:ln>
              </a:rPr>
              <a:t>Fundamentals ofInformationTechnology</a:t>
            </a:r>
            <a:endParaRPr lang="en-US"/>
          </a:p>
        </p:txBody>
      </p:sp>
      <p:sp>
        <p:nvSpPr>
          <p:cNvPr id="5" name="Slide Number Placeholder 4">
            <a:extLst>
              <a:ext uri="{FF2B5EF4-FFF2-40B4-BE49-F238E27FC236}">
                <a16:creationId xmlns:a16="http://schemas.microsoft.com/office/drawing/2014/main" id="{7F31FFF3-447C-6EA0-E9F0-6DE63B22237C}"/>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
        <p:nvSpPr>
          <p:cNvPr id="3" name="Content Placeholder 2">
            <a:extLst>
              <a:ext uri="{FF2B5EF4-FFF2-40B4-BE49-F238E27FC236}">
                <a16:creationId xmlns:a16="http://schemas.microsoft.com/office/drawing/2014/main" id="{08C523D0-8B85-BFD4-2DD3-B6F5FD0DD0ED}"/>
              </a:ext>
            </a:extLst>
          </p:cNvPr>
          <p:cNvSpPr>
            <a:spLocks noGrp="1"/>
          </p:cNvSpPr>
          <p:nvPr>
            <p:ph idx="1"/>
          </p:nvPr>
        </p:nvSpPr>
        <p:spPr>
          <a:xfrm>
            <a:off x="1318478" y="1799190"/>
            <a:ext cx="7576021" cy="3950354"/>
          </a:xfrm>
        </p:spPr>
        <p:txBody>
          <a:bodyPr vert="horz" lIns="91440" tIns="45720" rIns="91440" bIns="45720" rtlCol="0" anchor="t">
            <a:noAutofit/>
          </a:bodyPr>
          <a:lstStyle/>
          <a:p>
            <a:pPr marL="342900" indent="-342900"/>
            <a:r>
              <a:rPr lang="en-US">
                <a:ea typeface="+mn-lt"/>
                <a:cs typeface="+mn-lt"/>
              </a:rPr>
              <a:t>IT is the study and application of computers, software, and networks to manage information.</a:t>
            </a:r>
          </a:p>
          <a:p>
            <a:pPr marL="342900" indent="-342900"/>
            <a:r>
              <a:rPr lang="en-US">
                <a:ea typeface="+mn-lt"/>
                <a:cs typeface="+mn-lt"/>
              </a:rPr>
              <a:t>It enables data storage, processing, and communication.</a:t>
            </a:r>
          </a:p>
          <a:p>
            <a:pPr marL="342900" indent="-342900"/>
            <a:r>
              <a:rPr lang="en-US">
                <a:ea typeface="+mn-lt"/>
                <a:cs typeface="+mn-lt"/>
              </a:rPr>
              <a:t>IT is used in almost every sector: education, healthcare, banking, and business.</a:t>
            </a:r>
            <a:endParaRPr lang="en-US" dirty="0">
              <a:latin typeface="Segoe UI Light"/>
              <a:cs typeface="Segoe UI Light"/>
            </a:endParaRPr>
          </a:p>
          <a:p>
            <a:pPr marL="342900" indent="-342900"/>
            <a:endParaRPr lang="en-US" dirty="0">
              <a:latin typeface="Segoe UI Light"/>
              <a:cs typeface="Segoe UI Light"/>
            </a:endParaRPr>
          </a:p>
        </p:txBody>
      </p:sp>
    </p:spTree>
    <p:extLst>
      <p:ext uri="{BB962C8B-B14F-4D97-AF65-F5344CB8AC3E}">
        <p14:creationId xmlns:p14="http://schemas.microsoft.com/office/powerpoint/2010/main" val="4032358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ECE8F-AE73-49ED-7284-8BCD21658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C750D-8DED-292E-B3C7-943550B8722A}"/>
              </a:ext>
            </a:extLst>
          </p:cNvPr>
          <p:cNvSpPr>
            <a:spLocks noGrp="1"/>
          </p:cNvSpPr>
          <p:nvPr>
            <p:ph type="title"/>
          </p:nvPr>
        </p:nvSpPr>
        <p:spPr>
          <a:xfrm>
            <a:off x="1318477" y="309589"/>
            <a:ext cx="10576995" cy="1069848"/>
          </a:xfrm>
        </p:spPr>
        <p:txBody>
          <a:bodyPr>
            <a:normAutofit/>
          </a:bodyPr>
          <a:lstStyle/>
          <a:p>
            <a:r>
              <a:rPr lang="en-US" sz="4800" b="0">
                <a:ln w="28575">
                  <a:noFill/>
                  <a:prstDash val="solid"/>
                </a:ln>
                <a:ea typeface="+mj-lt"/>
                <a:cs typeface="+mj-lt"/>
              </a:rPr>
              <a:t>Components of IT</a:t>
            </a:r>
            <a:endParaRPr lang="en-US"/>
          </a:p>
        </p:txBody>
      </p:sp>
      <p:sp>
        <p:nvSpPr>
          <p:cNvPr id="5" name="Slide Number Placeholder 4">
            <a:extLst>
              <a:ext uri="{FF2B5EF4-FFF2-40B4-BE49-F238E27FC236}">
                <a16:creationId xmlns:a16="http://schemas.microsoft.com/office/drawing/2014/main" id="{1986016A-33CB-585E-2BC2-A5545BDBC90A}"/>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3" name="Content Placeholder 2">
            <a:extLst>
              <a:ext uri="{FF2B5EF4-FFF2-40B4-BE49-F238E27FC236}">
                <a16:creationId xmlns:a16="http://schemas.microsoft.com/office/drawing/2014/main" id="{0A835865-01B3-AA78-8996-A01953A1927C}"/>
              </a:ext>
            </a:extLst>
          </p:cNvPr>
          <p:cNvSpPr>
            <a:spLocks noGrp="1"/>
          </p:cNvSpPr>
          <p:nvPr>
            <p:ph idx="1"/>
          </p:nvPr>
        </p:nvSpPr>
        <p:spPr>
          <a:xfrm>
            <a:off x="1318478" y="1617761"/>
            <a:ext cx="7497644" cy="4102754"/>
          </a:xfrm>
        </p:spPr>
        <p:txBody>
          <a:bodyPr vert="horz" lIns="91440" tIns="45720" rIns="91440" bIns="45720" rtlCol="0" anchor="t">
            <a:noAutofit/>
          </a:bodyPr>
          <a:lstStyle/>
          <a:p>
            <a:pPr marL="347345" indent="-347345"/>
            <a:r>
              <a:rPr lang="en-US" b="1">
                <a:ea typeface="+mn-lt"/>
                <a:cs typeface="+mn-lt"/>
              </a:rPr>
              <a:t>Hardware:</a:t>
            </a:r>
            <a:r>
              <a:rPr lang="en-US">
                <a:ea typeface="+mn-lt"/>
                <a:cs typeface="+mn-lt"/>
              </a:rPr>
              <a:t> physical devices (CPU, memory, printers).</a:t>
            </a:r>
            <a:endParaRPr lang="en-US" dirty="0">
              <a:latin typeface="Segoe UI Light"/>
              <a:cs typeface="Segoe UI Light"/>
            </a:endParaRPr>
          </a:p>
          <a:p>
            <a:pPr marL="347345" indent="-347345"/>
            <a:r>
              <a:rPr lang="en-US" b="1">
                <a:ea typeface="+mn-lt"/>
                <a:cs typeface="+mn-lt"/>
              </a:rPr>
              <a:t>Software:</a:t>
            </a:r>
            <a:r>
              <a:rPr lang="en-US">
                <a:ea typeface="+mn-lt"/>
                <a:cs typeface="+mn-lt"/>
              </a:rPr>
              <a:t> programs that run on hardware (Windows, MS Word, apps).</a:t>
            </a:r>
            <a:endParaRPr lang="en-US"/>
          </a:p>
          <a:p>
            <a:pPr marL="347345" indent="-347345"/>
            <a:r>
              <a:rPr lang="en-US" b="1">
                <a:ea typeface="+mn-lt"/>
                <a:cs typeface="+mn-lt"/>
              </a:rPr>
              <a:t>Networks:</a:t>
            </a:r>
            <a:r>
              <a:rPr lang="en-US">
                <a:ea typeface="+mn-lt"/>
                <a:cs typeface="+mn-lt"/>
              </a:rPr>
              <a:t> systems that connect computers (LAN, WAN, Internet).</a:t>
            </a:r>
            <a:endParaRPr lang="en-US"/>
          </a:p>
          <a:p>
            <a:pPr marL="347345" indent="-347345"/>
            <a:r>
              <a:rPr lang="en-US" b="1">
                <a:ea typeface="+mn-lt"/>
                <a:cs typeface="+mn-lt"/>
              </a:rPr>
              <a:t>Databases:</a:t>
            </a:r>
            <a:r>
              <a:rPr lang="en-US">
                <a:ea typeface="+mn-lt"/>
                <a:cs typeface="+mn-lt"/>
              </a:rPr>
              <a:t> organized storage of information for easy access.</a:t>
            </a:r>
            <a:endParaRPr lang="en-US" dirty="0">
              <a:latin typeface="Segoe UI Light"/>
              <a:cs typeface="Segoe UI Light"/>
            </a:endParaRPr>
          </a:p>
          <a:p>
            <a:pPr marL="342900" indent="-342900"/>
            <a:endParaRPr lang="en-US" dirty="0">
              <a:latin typeface="Segoe UI Light"/>
              <a:cs typeface="Segoe UI Light"/>
            </a:endParaRPr>
          </a:p>
        </p:txBody>
      </p:sp>
    </p:spTree>
    <p:extLst>
      <p:ext uri="{BB962C8B-B14F-4D97-AF65-F5344CB8AC3E}">
        <p14:creationId xmlns:p14="http://schemas.microsoft.com/office/powerpoint/2010/main" val="1905829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2912E-143B-87F7-DF13-82B3865A7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49850-0A40-1CB6-17AE-39440262BACA}"/>
              </a:ext>
            </a:extLst>
          </p:cNvPr>
          <p:cNvSpPr>
            <a:spLocks noGrp="1"/>
          </p:cNvSpPr>
          <p:nvPr>
            <p:ph type="title"/>
          </p:nvPr>
        </p:nvSpPr>
        <p:spPr>
          <a:xfrm>
            <a:off x="1318477" y="309589"/>
            <a:ext cx="10976137" cy="1069848"/>
          </a:xfrm>
        </p:spPr>
        <p:txBody>
          <a:bodyPr>
            <a:normAutofit fontScale="90000"/>
          </a:bodyPr>
          <a:lstStyle/>
          <a:p>
            <a:r>
              <a:rPr lang="en-US" sz="4800" b="0">
                <a:ln w="28575">
                  <a:noFill/>
                  <a:prstDash val="solid"/>
                </a:ln>
                <a:ea typeface="+mj-lt"/>
                <a:cs typeface="+mj-lt"/>
              </a:rPr>
              <a:t>Role of IT in Business Operations</a:t>
            </a:r>
            <a:endParaRPr lang="en-US"/>
          </a:p>
        </p:txBody>
      </p:sp>
      <p:sp>
        <p:nvSpPr>
          <p:cNvPr id="5" name="Slide Number Placeholder 4">
            <a:extLst>
              <a:ext uri="{FF2B5EF4-FFF2-40B4-BE49-F238E27FC236}">
                <a16:creationId xmlns:a16="http://schemas.microsoft.com/office/drawing/2014/main" id="{4759C14B-F51A-977F-7485-0A6B2A01FE52}"/>
              </a:ext>
            </a:extLst>
          </p:cNvPr>
          <p:cNvSpPr>
            <a:spLocks noGrp="1"/>
          </p:cNvSpPr>
          <p:nvPr>
            <p:ph type="sldNum" sz="quarter" idx="11"/>
          </p:nvPr>
        </p:nvSpPr>
        <p:spPr/>
        <p:txBody>
          <a:bodyPr/>
          <a:lstStyle/>
          <a:p>
            <a:fld id="{294A09A9-5501-47C1-A89A-A340965A2BE2}" type="slidenum">
              <a:rPr lang="en-US" smtClean="0"/>
              <a:pPr/>
              <a:t>6</a:t>
            </a:fld>
            <a:endParaRPr lang="en-US" dirty="0"/>
          </a:p>
        </p:txBody>
      </p:sp>
      <p:sp>
        <p:nvSpPr>
          <p:cNvPr id="3" name="Content Placeholder 2">
            <a:extLst>
              <a:ext uri="{FF2B5EF4-FFF2-40B4-BE49-F238E27FC236}">
                <a16:creationId xmlns:a16="http://schemas.microsoft.com/office/drawing/2014/main" id="{38D460B4-1BBA-DB5F-C785-6F80F7EEC62C}"/>
              </a:ext>
            </a:extLst>
          </p:cNvPr>
          <p:cNvSpPr>
            <a:spLocks noGrp="1"/>
          </p:cNvSpPr>
          <p:nvPr>
            <p:ph idx="1"/>
          </p:nvPr>
        </p:nvSpPr>
        <p:spPr>
          <a:xfrm>
            <a:off x="1318478" y="1617761"/>
            <a:ext cx="7497644" cy="4102754"/>
          </a:xfrm>
        </p:spPr>
        <p:txBody>
          <a:bodyPr vert="horz" lIns="91440" tIns="45720" rIns="91440" bIns="45720" rtlCol="0" anchor="t">
            <a:noAutofit/>
          </a:bodyPr>
          <a:lstStyle/>
          <a:p>
            <a:pPr marL="347345" indent="-347345"/>
            <a:r>
              <a:rPr lang="en-US" b="1">
                <a:ea typeface="+mn-lt"/>
                <a:cs typeface="+mn-lt"/>
              </a:rPr>
              <a:t>Automates routine tasks like payroll, billing, and inventory.</a:t>
            </a:r>
            <a:endParaRPr lang="en-US" b="1" dirty="0">
              <a:latin typeface="Segoe UI Light"/>
              <a:cs typeface="Segoe UI Light"/>
            </a:endParaRPr>
          </a:p>
          <a:p>
            <a:pPr marL="347345" indent="-347345"/>
            <a:r>
              <a:rPr lang="en-US" b="1">
                <a:ea typeface="+mn-lt"/>
                <a:cs typeface="+mn-lt"/>
              </a:rPr>
              <a:t>Improves communication through emails, video calls, and instant messaging.</a:t>
            </a:r>
            <a:endParaRPr lang="en-US" b="1"/>
          </a:p>
          <a:p>
            <a:pPr marL="347345" indent="-347345"/>
            <a:r>
              <a:rPr lang="en-US" b="1">
                <a:ea typeface="+mn-lt"/>
                <a:cs typeface="+mn-lt"/>
              </a:rPr>
              <a:t>Provides managers with tools for data analysis and decision‑making.</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477696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2E3D-2C03-1DB5-1060-C76AAF1DF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DD66B-6B46-18F0-537C-323DEC15C690}"/>
              </a:ext>
            </a:extLst>
          </p:cNvPr>
          <p:cNvSpPr>
            <a:spLocks noGrp="1"/>
          </p:cNvSpPr>
          <p:nvPr>
            <p:ph type="title"/>
          </p:nvPr>
        </p:nvSpPr>
        <p:spPr>
          <a:xfrm>
            <a:off x="1318477" y="723246"/>
            <a:ext cx="10976137" cy="1069848"/>
          </a:xfrm>
        </p:spPr>
        <p:txBody>
          <a:bodyPr>
            <a:normAutofit fontScale="90000"/>
          </a:bodyPr>
          <a:lstStyle/>
          <a:p>
            <a:r>
              <a:rPr lang="en-US" sz="4800" b="0">
                <a:ln w="28575">
                  <a:noFill/>
                  <a:prstDash val="solid"/>
                </a:ln>
                <a:ea typeface="+mj-lt"/>
                <a:cs typeface="+mj-lt"/>
              </a:rPr>
              <a:t>Role of IT in Business Operations</a:t>
            </a:r>
            <a:endParaRPr lang="en-US"/>
          </a:p>
        </p:txBody>
      </p:sp>
      <p:sp>
        <p:nvSpPr>
          <p:cNvPr id="5" name="Slide Number Placeholder 4">
            <a:extLst>
              <a:ext uri="{FF2B5EF4-FFF2-40B4-BE49-F238E27FC236}">
                <a16:creationId xmlns:a16="http://schemas.microsoft.com/office/drawing/2014/main" id="{1682A700-63F4-2028-38C0-38038E96EF54}"/>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
        <p:nvSpPr>
          <p:cNvPr id="3" name="Content Placeholder 2">
            <a:extLst>
              <a:ext uri="{FF2B5EF4-FFF2-40B4-BE49-F238E27FC236}">
                <a16:creationId xmlns:a16="http://schemas.microsoft.com/office/drawing/2014/main" id="{2C4B795A-A384-3AD8-EC32-468202AB8465}"/>
              </a:ext>
            </a:extLst>
          </p:cNvPr>
          <p:cNvSpPr>
            <a:spLocks noGrp="1"/>
          </p:cNvSpPr>
          <p:nvPr>
            <p:ph idx="1"/>
          </p:nvPr>
        </p:nvSpPr>
        <p:spPr>
          <a:xfrm>
            <a:off x="1318478" y="2169304"/>
            <a:ext cx="7497644" cy="4102754"/>
          </a:xfrm>
        </p:spPr>
        <p:txBody>
          <a:bodyPr vert="horz" lIns="91440" tIns="45720" rIns="91440" bIns="45720" rtlCol="0" anchor="t">
            <a:noAutofit/>
          </a:bodyPr>
          <a:lstStyle/>
          <a:p>
            <a:pPr marL="347345" indent="-347345"/>
            <a:r>
              <a:rPr lang="en-US" b="1">
                <a:ea typeface="+mn-lt"/>
                <a:cs typeface="+mn-lt"/>
              </a:rPr>
              <a:t>Enables e‑commerce platforms (Amazon, Flipkart).</a:t>
            </a:r>
            <a:endParaRPr lang="en-US" b="1" dirty="0">
              <a:latin typeface="Segoe UI Light"/>
              <a:cs typeface="Segoe UI Light"/>
            </a:endParaRPr>
          </a:p>
          <a:p>
            <a:pPr marL="347345" indent="-347345"/>
            <a:r>
              <a:rPr lang="en-US" b="1">
                <a:ea typeface="+mn-lt"/>
                <a:cs typeface="+mn-lt"/>
              </a:rPr>
              <a:t>Reduces costs by streamlining processes.</a:t>
            </a:r>
            <a:endParaRPr lang="en-US" b="1"/>
          </a:p>
          <a:p>
            <a:pPr marL="347345" indent="-347345"/>
            <a:r>
              <a:rPr lang="en-US" b="1">
                <a:ea typeface="+mn-lt"/>
                <a:cs typeface="+mn-lt"/>
              </a:rPr>
              <a:t>Supports remote work and global collaboration.</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1789606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26E59-9BDF-2504-207D-3153A56CE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0D847-8B57-8C80-7376-4727833C48BE}"/>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Overview of Business</a:t>
            </a:r>
            <a:br>
              <a:rPr lang="en-US" sz="4800" b="0" dirty="0">
                <a:ln w="28575">
                  <a:noFill/>
                  <a:prstDash val="solid"/>
                </a:ln>
                <a:ea typeface="+mj-lt"/>
                <a:cs typeface="+mj-lt"/>
              </a:rPr>
            </a:br>
            <a:r>
              <a:rPr lang="en-US" sz="4800" b="0">
                <a:ln w="28575">
                  <a:noFill/>
                  <a:prstDash val="solid"/>
                </a:ln>
                <a:ea typeface="+mj-lt"/>
                <a:cs typeface="+mj-lt"/>
              </a:rPr>
              <a:t>Systems</a:t>
            </a:r>
            <a:endParaRPr lang="en-US">
              <a:ea typeface="+mj-lt"/>
              <a:cs typeface="+mj-lt"/>
            </a:endParaRPr>
          </a:p>
        </p:txBody>
      </p:sp>
      <p:sp>
        <p:nvSpPr>
          <p:cNvPr id="5" name="Slide Number Placeholder 4">
            <a:extLst>
              <a:ext uri="{FF2B5EF4-FFF2-40B4-BE49-F238E27FC236}">
                <a16:creationId xmlns:a16="http://schemas.microsoft.com/office/drawing/2014/main" id="{1836B88F-A5CF-7265-7A11-46F172CF93F4}"/>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
        <p:nvSpPr>
          <p:cNvPr id="3" name="Content Placeholder 2">
            <a:extLst>
              <a:ext uri="{FF2B5EF4-FFF2-40B4-BE49-F238E27FC236}">
                <a16:creationId xmlns:a16="http://schemas.microsoft.com/office/drawing/2014/main" id="{24FAE4AD-AAAF-5DDC-8A46-8AD4B067D545}"/>
              </a:ext>
            </a:extLst>
          </p:cNvPr>
          <p:cNvSpPr>
            <a:spLocks noGrp="1"/>
          </p:cNvSpPr>
          <p:nvPr>
            <p:ph idx="1"/>
          </p:nvPr>
        </p:nvSpPr>
        <p:spPr>
          <a:xfrm>
            <a:off x="1318478" y="1617761"/>
            <a:ext cx="7497644" cy="4102754"/>
          </a:xfrm>
        </p:spPr>
        <p:txBody>
          <a:bodyPr vert="horz" lIns="91440" tIns="45720" rIns="91440" bIns="45720" rtlCol="0" anchor="t">
            <a:noAutofit/>
          </a:bodyPr>
          <a:lstStyle/>
          <a:p>
            <a:pPr marL="347345" indent="-347345"/>
            <a:r>
              <a:rPr lang="en-US" b="1">
                <a:ea typeface="+mn-lt"/>
                <a:cs typeface="+mn-lt"/>
              </a:rPr>
              <a:t>ERP (Enterprise Resource Planning):</a:t>
            </a:r>
            <a:r>
              <a:rPr lang="en-US">
                <a:ea typeface="+mn-lt"/>
                <a:cs typeface="+mn-lt"/>
              </a:rPr>
              <a:t> integrates finance, HR, supply chain, and production.</a:t>
            </a:r>
            <a:endParaRPr lang="en-US" dirty="0">
              <a:latin typeface="Segoe UI Light"/>
              <a:cs typeface="Segoe UI Light"/>
            </a:endParaRPr>
          </a:p>
          <a:p>
            <a:pPr marL="347345" indent="-347345"/>
            <a:r>
              <a:rPr lang="en-US" b="1">
                <a:ea typeface="+mn-lt"/>
                <a:cs typeface="+mn-lt"/>
              </a:rPr>
              <a:t>CRM (Customer Relationship Management):</a:t>
            </a:r>
            <a:r>
              <a:rPr lang="en-US">
                <a:ea typeface="+mn-lt"/>
                <a:cs typeface="+mn-lt"/>
              </a:rPr>
              <a:t> manages customer data, sales, and service.</a:t>
            </a:r>
            <a:endParaRPr lang="en-US"/>
          </a:p>
          <a:p>
            <a:pPr marL="347345" indent="-347345"/>
            <a:r>
              <a:rPr lang="en-US" b="1">
                <a:ea typeface="+mn-lt"/>
                <a:cs typeface="+mn-lt"/>
              </a:rPr>
              <a:t>SCM (Supply Chain Management):</a:t>
            </a:r>
            <a:r>
              <a:rPr lang="en-US">
                <a:ea typeface="+mn-lt"/>
                <a:cs typeface="+mn-lt"/>
              </a:rPr>
              <a:t> tracks goods, suppliers, and logistics.</a:t>
            </a:r>
            <a:endParaRPr lang="en-US"/>
          </a:p>
          <a:p>
            <a:pPr marL="347345" indent="-347345"/>
            <a:endParaRPr lang="en-US" dirty="0">
              <a:latin typeface="Segoe UI Light"/>
              <a:cs typeface="Segoe UI Light"/>
            </a:endParaRPr>
          </a:p>
        </p:txBody>
      </p:sp>
    </p:spTree>
    <p:extLst>
      <p:ext uri="{BB962C8B-B14F-4D97-AF65-F5344CB8AC3E}">
        <p14:creationId xmlns:p14="http://schemas.microsoft.com/office/powerpoint/2010/main" val="170574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B581A-4644-3534-A89F-29694A1A6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643EAA-36D2-E2DF-56AE-1321F93CD666}"/>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ERP Example</a:t>
            </a:r>
            <a:endParaRPr lang="en-US">
              <a:ea typeface="+mj-lt"/>
              <a:cs typeface="+mj-lt"/>
            </a:endParaRPr>
          </a:p>
        </p:txBody>
      </p:sp>
      <p:sp>
        <p:nvSpPr>
          <p:cNvPr id="5" name="Slide Number Placeholder 4">
            <a:extLst>
              <a:ext uri="{FF2B5EF4-FFF2-40B4-BE49-F238E27FC236}">
                <a16:creationId xmlns:a16="http://schemas.microsoft.com/office/drawing/2014/main" id="{3785F6EB-9ECF-354C-97BE-8970C2BBE949}"/>
              </a:ext>
            </a:extLst>
          </p:cNvPr>
          <p:cNvSpPr>
            <a:spLocks noGrp="1"/>
          </p:cNvSpPr>
          <p:nvPr>
            <p:ph type="sldNum" sz="quarter" idx="11"/>
          </p:nvPr>
        </p:nvSpPr>
        <p:spPr/>
        <p:txBody>
          <a:bodyPr/>
          <a:lstStyle/>
          <a:p>
            <a:fld id="{294A09A9-5501-47C1-A89A-A340965A2BE2}" type="slidenum">
              <a:rPr lang="en-US" smtClean="0"/>
              <a:pPr/>
              <a:t>9</a:t>
            </a:fld>
            <a:endParaRPr lang="en-US" dirty="0"/>
          </a:p>
        </p:txBody>
      </p:sp>
      <p:sp>
        <p:nvSpPr>
          <p:cNvPr id="3" name="Content Placeholder 2">
            <a:extLst>
              <a:ext uri="{FF2B5EF4-FFF2-40B4-BE49-F238E27FC236}">
                <a16:creationId xmlns:a16="http://schemas.microsoft.com/office/drawing/2014/main" id="{ABA88A98-7F84-2640-1F2D-FCCD9D4752F8}"/>
              </a:ext>
            </a:extLst>
          </p:cNvPr>
          <p:cNvSpPr>
            <a:spLocks noGrp="1"/>
          </p:cNvSpPr>
          <p:nvPr>
            <p:ph idx="1"/>
          </p:nvPr>
        </p:nvSpPr>
        <p:spPr>
          <a:xfrm>
            <a:off x="1318478" y="1617761"/>
            <a:ext cx="7497644" cy="4102754"/>
          </a:xfrm>
        </p:spPr>
        <p:txBody>
          <a:bodyPr vert="horz" lIns="91440" tIns="45720" rIns="91440" bIns="45720" rtlCol="0" anchor="t">
            <a:noAutofit/>
          </a:bodyPr>
          <a:lstStyle/>
          <a:p>
            <a:pPr marL="347345" indent="-347345"/>
            <a:r>
              <a:rPr lang="en-US" b="1">
                <a:ea typeface="+mn-lt"/>
                <a:cs typeface="+mn-lt"/>
              </a:rPr>
              <a:t>ERP uses a centralized database shared across departments.</a:t>
            </a:r>
            <a:endParaRPr lang="en-US" b="1" dirty="0">
              <a:latin typeface="Segoe UI Light"/>
              <a:cs typeface="Segoe UI Light"/>
            </a:endParaRPr>
          </a:p>
          <a:p>
            <a:pPr marL="347345" indent="-347345"/>
            <a:r>
              <a:rPr lang="en-US" b="1">
                <a:ea typeface="+mn-lt"/>
                <a:cs typeface="+mn-lt"/>
              </a:rPr>
              <a:t>Real‑time updates keep sales, inventory, and finance in sync.</a:t>
            </a:r>
            <a:endParaRPr lang="en-US" b="1"/>
          </a:p>
          <a:p>
            <a:pPr marL="347345" indent="-347345"/>
            <a:r>
              <a:rPr lang="en-US" b="1">
                <a:ea typeface="+mn-lt"/>
                <a:cs typeface="+mn-lt"/>
              </a:rPr>
              <a:t>Benefits: faster reporting, reduced duplication, better coordination.</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306629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18B7B-5D56-0A36-5835-7FF6BB163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A2F77-1241-DF1B-8772-857DF3AB950A}"/>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CRM Example</a:t>
            </a:r>
            <a:endParaRPr lang="en-US"/>
          </a:p>
        </p:txBody>
      </p:sp>
      <p:sp>
        <p:nvSpPr>
          <p:cNvPr id="5" name="Slide Number Placeholder 4">
            <a:extLst>
              <a:ext uri="{FF2B5EF4-FFF2-40B4-BE49-F238E27FC236}">
                <a16:creationId xmlns:a16="http://schemas.microsoft.com/office/drawing/2014/main" id="{E7EED35F-BCC2-579E-46A2-702C03D0D31A}"/>
              </a:ext>
            </a:extLst>
          </p:cNvPr>
          <p:cNvSpPr>
            <a:spLocks noGrp="1"/>
          </p:cNvSpPr>
          <p:nvPr>
            <p:ph type="sldNum" sz="quarter" idx="11"/>
          </p:nvPr>
        </p:nvSpPr>
        <p:spPr/>
        <p:txBody>
          <a:bodyPr/>
          <a:lstStyle/>
          <a:p>
            <a:fld id="{294A09A9-5501-47C1-A89A-A340965A2BE2}" type="slidenum">
              <a:rPr lang="en-US" smtClean="0"/>
              <a:pPr/>
              <a:t>10</a:t>
            </a:fld>
            <a:endParaRPr lang="en-US" dirty="0"/>
          </a:p>
        </p:txBody>
      </p:sp>
      <p:sp>
        <p:nvSpPr>
          <p:cNvPr id="3" name="Content Placeholder 2">
            <a:extLst>
              <a:ext uri="{FF2B5EF4-FFF2-40B4-BE49-F238E27FC236}">
                <a16:creationId xmlns:a16="http://schemas.microsoft.com/office/drawing/2014/main" id="{DBB55010-1EE1-0C55-A552-CC6C8658C2D9}"/>
              </a:ext>
            </a:extLst>
          </p:cNvPr>
          <p:cNvSpPr>
            <a:spLocks noGrp="1"/>
          </p:cNvSpPr>
          <p:nvPr>
            <p:ph idx="1"/>
          </p:nvPr>
        </p:nvSpPr>
        <p:spPr>
          <a:xfrm>
            <a:off x="1318478" y="1617761"/>
            <a:ext cx="7497644" cy="4102754"/>
          </a:xfrm>
        </p:spPr>
        <p:txBody>
          <a:bodyPr vert="horz" lIns="91440" tIns="45720" rIns="91440" bIns="45720" rtlCol="0" anchor="t">
            <a:noAutofit/>
          </a:bodyPr>
          <a:lstStyle/>
          <a:p>
            <a:pPr marL="347345" indent="-347345"/>
            <a:r>
              <a:rPr lang="en-US" b="1">
                <a:ea typeface="+mn-lt"/>
                <a:cs typeface="+mn-lt"/>
              </a:rPr>
              <a:t>CRM stores customer details, purchase history, and preferences.</a:t>
            </a:r>
            <a:endParaRPr lang="en-US" b="1" dirty="0">
              <a:ea typeface="+mn-lt"/>
              <a:cs typeface="+mn-lt"/>
            </a:endParaRPr>
          </a:p>
          <a:p>
            <a:pPr marL="347345" indent="-347345"/>
            <a:r>
              <a:rPr lang="en-US" b="1">
                <a:ea typeface="+mn-lt"/>
                <a:cs typeface="+mn-lt"/>
              </a:rPr>
              <a:t>Helps companies personalize marketing and improve customer service.</a:t>
            </a:r>
          </a:p>
          <a:p>
            <a:pPr marL="347345" indent="-347345"/>
            <a:r>
              <a:rPr lang="en-US" b="1">
                <a:ea typeface="+mn-lt"/>
                <a:cs typeface="+mn-lt"/>
              </a:rPr>
              <a:t>Builds loyalty and long‑term relationships.</a:t>
            </a:r>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688627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0FF48-3BE5-ECF6-7EDC-CCAC9364E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0F380-F0A1-3A34-C1CF-004EA27478B1}"/>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Interplay between IT &amp; Business Strategy</a:t>
            </a:r>
            <a:endParaRPr lang="en-US">
              <a:ea typeface="+mj-lt"/>
              <a:cs typeface="+mj-lt"/>
            </a:endParaRPr>
          </a:p>
        </p:txBody>
      </p:sp>
      <p:sp>
        <p:nvSpPr>
          <p:cNvPr id="5" name="Slide Number Placeholder 4">
            <a:extLst>
              <a:ext uri="{FF2B5EF4-FFF2-40B4-BE49-F238E27FC236}">
                <a16:creationId xmlns:a16="http://schemas.microsoft.com/office/drawing/2014/main" id="{4EE0A482-817A-4ED2-75B9-89D1E80E5BBE}"/>
              </a:ext>
            </a:extLst>
          </p:cNvPr>
          <p:cNvSpPr>
            <a:spLocks noGrp="1"/>
          </p:cNvSpPr>
          <p:nvPr>
            <p:ph type="sldNum" sz="quarter" idx="11"/>
          </p:nvPr>
        </p:nvSpPr>
        <p:spPr/>
        <p:txBody>
          <a:bodyPr/>
          <a:lstStyle/>
          <a:p>
            <a:fld id="{294A09A9-5501-47C1-A89A-A340965A2BE2}" type="slidenum">
              <a:rPr lang="en-US" smtClean="0"/>
              <a:pPr/>
              <a:t>11</a:t>
            </a:fld>
            <a:endParaRPr lang="en-US" dirty="0"/>
          </a:p>
        </p:txBody>
      </p:sp>
      <p:sp>
        <p:nvSpPr>
          <p:cNvPr id="3" name="Content Placeholder 2">
            <a:extLst>
              <a:ext uri="{FF2B5EF4-FFF2-40B4-BE49-F238E27FC236}">
                <a16:creationId xmlns:a16="http://schemas.microsoft.com/office/drawing/2014/main" id="{A9F3EDF0-FB0B-E653-7E7E-852E41BC674C}"/>
              </a:ext>
            </a:extLst>
          </p:cNvPr>
          <p:cNvSpPr>
            <a:spLocks noGrp="1"/>
          </p:cNvSpPr>
          <p:nvPr>
            <p:ph idx="1"/>
          </p:nvPr>
        </p:nvSpPr>
        <p:spPr>
          <a:xfrm>
            <a:off x="1318478" y="1617761"/>
            <a:ext cx="7497644" cy="4102754"/>
          </a:xfrm>
        </p:spPr>
        <p:txBody>
          <a:bodyPr vert="horz" lIns="91440" tIns="45720" rIns="91440" bIns="45720" rtlCol="0" anchor="t">
            <a:noAutofit/>
          </a:bodyPr>
          <a:lstStyle/>
          <a:p>
            <a:pPr marL="347345" indent="-347345"/>
            <a:r>
              <a:rPr lang="en-US" b="1">
                <a:ea typeface="+mn-lt"/>
                <a:cs typeface="+mn-lt"/>
              </a:rPr>
              <a:t>IT is not just support—it drives business strategy.</a:t>
            </a:r>
            <a:endParaRPr lang="en-US" b="1" dirty="0">
              <a:latin typeface="Segoe UI Light"/>
              <a:cs typeface="Segoe UI Light"/>
            </a:endParaRPr>
          </a:p>
          <a:p>
            <a:pPr marL="347345" indent="-347345"/>
            <a:r>
              <a:rPr lang="en-US" b="1">
                <a:ea typeface="+mn-lt"/>
                <a:cs typeface="+mn-lt"/>
              </a:rPr>
              <a:t>Companies use IT to innovate, expand globally, and gain competitive advantage.</a:t>
            </a:r>
            <a:endParaRPr lang="en-US" b="1"/>
          </a:p>
          <a:p>
            <a:pPr marL="347345" indent="-347345"/>
            <a:r>
              <a:rPr lang="en-US" b="1">
                <a:ea typeface="+mn-lt"/>
                <a:cs typeface="+mn-lt"/>
              </a:rPr>
              <a:t>Example: Amazon uses IT for logistics, personalization, and predictive analytics.</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005355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64762-CF17-388B-7B36-2D39DBC53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FB278-9D08-8615-2AD6-41D0A82717C7}"/>
              </a:ext>
            </a:extLst>
          </p:cNvPr>
          <p:cNvSpPr>
            <a:spLocks noGrp="1"/>
          </p:cNvSpPr>
          <p:nvPr>
            <p:ph type="ctrTitle"/>
          </p:nvPr>
        </p:nvSpPr>
        <p:spPr>
          <a:xfrm>
            <a:off x="2329688" y="2890955"/>
            <a:ext cx="7735824" cy="1069848"/>
          </a:xfrm>
        </p:spPr>
        <p:txBody>
          <a:bodyPr vert="horz" lIns="91440" tIns="45720" rIns="91440" bIns="45720" rtlCol="0" anchor="ctr">
            <a:noAutofit/>
          </a:bodyPr>
          <a:lstStyle/>
          <a:p>
            <a:r>
              <a:rPr lang="en-US" sz="4800">
                <a:ea typeface="+mj-lt"/>
                <a:cs typeface="+mj-lt"/>
              </a:rPr>
              <a:t>Data Types, Sources, and Lifecycle</a:t>
            </a:r>
            <a:r>
              <a:rPr lang="en-US" sz="4800" b="0" dirty="0">
                <a:ea typeface="+mj-lt"/>
                <a:cs typeface="+mj-lt"/>
              </a:rPr>
              <a:t> </a:t>
            </a:r>
            <a:endParaRPr lang="en-US" dirty="0"/>
          </a:p>
        </p:txBody>
      </p:sp>
    </p:spTree>
    <p:extLst>
      <p:ext uri="{BB962C8B-B14F-4D97-AF65-F5344CB8AC3E}">
        <p14:creationId xmlns:p14="http://schemas.microsoft.com/office/powerpoint/2010/main" val="3709784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4CCEC-6584-15F3-8B01-58E80F772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B0FA8-0112-7CD8-1FAE-BCDD3FF213A1}"/>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Understanding Different Data Types</a:t>
            </a:r>
            <a:endParaRPr lang="en-US"/>
          </a:p>
        </p:txBody>
      </p:sp>
      <p:sp>
        <p:nvSpPr>
          <p:cNvPr id="5" name="Slide Number Placeholder 4">
            <a:extLst>
              <a:ext uri="{FF2B5EF4-FFF2-40B4-BE49-F238E27FC236}">
                <a16:creationId xmlns:a16="http://schemas.microsoft.com/office/drawing/2014/main" id="{4CFB07DB-A832-8404-A850-D7A8CF49BED7}"/>
              </a:ext>
            </a:extLst>
          </p:cNvPr>
          <p:cNvSpPr>
            <a:spLocks noGrp="1"/>
          </p:cNvSpPr>
          <p:nvPr>
            <p:ph type="sldNum" sz="quarter" idx="11"/>
          </p:nvPr>
        </p:nvSpPr>
        <p:spPr/>
        <p:txBody>
          <a:bodyPr/>
          <a:lstStyle/>
          <a:p>
            <a:fld id="{294A09A9-5501-47C1-A89A-A340965A2BE2}" type="slidenum">
              <a:rPr lang="en-US" smtClean="0"/>
              <a:pPr/>
              <a:t>13</a:t>
            </a:fld>
            <a:endParaRPr lang="en-US" dirty="0"/>
          </a:p>
        </p:txBody>
      </p:sp>
      <p:sp>
        <p:nvSpPr>
          <p:cNvPr id="3" name="Content Placeholder 2">
            <a:extLst>
              <a:ext uri="{FF2B5EF4-FFF2-40B4-BE49-F238E27FC236}">
                <a16:creationId xmlns:a16="http://schemas.microsoft.com/office/drawing/2014/main" id="{1836E0B1-E1B0-9C33-4061-3596BDDDC47D}"/>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Structured: organized in rows/columns (databases, spreadsheets)</a:t>
            </a:r>
            <a:endParaRPr lang="en-US" b="1" dirty="0">
              <a:latin typeface="Segoe UI Light"/>
              <a:cs typeface="Segoe UI Light"/>
            </a:endParaRPr>
          </a:p>
          <a:p>
            <a:pPr marL="347345" indent="-347345"/>
            <a:r>
              <a:rPr lang="en-US" b="1">
                <a:ea typeface="+mn-lt"/>
                <a:cs typeface="+mn-lt"/>
              </a:rPr>
              <a:t>Unstructured: free‑form (text, images, videos)</a:t>
            </a:r>
            <a:endParaRPr lang="en-US" b="1"/>
          </a:p>
          <a:p>
            <a:pPr marL="347345" indent="-347345"/>
            <a:r>
              <a:rPr lang="en-US" b="1">
                <a:ea typeface="+mn-lt"/>
                <a:cs typeface="+mn-lt"/>
              </a:rPr>
              <a:t>Semi‑structured: mix of both (XML, JSON, emails)</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253536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018F9-AA2C-1482-DABF-4DDA1815FEF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9E21926-E7B7-BF55-29D4-52338A5256BD}"/>
              </a:ext>
            </a:extLst>
          </p:cNvPr>
          <p:cNvSpPr>
            <a:spLocks noGrp="1"/>
          </p:cNvSpPr>
          <p:nvPr>
            <p:ph type="sldNum" sz="quarter" idx="11"/>
          </p:nvPr>
        </p:nvSpPr>
        <p:spPr/>
        <p:txBody>
          <a:bodyPr/>
          <a:lstStyle/>
          <a:p>
            <a:fld id="{294A09A9-5501-47C1-A89A-A340965A2BE2}" type="slidenum">
              <a:rPr lang="en-US" smtClean="0"/>
              <a:pPr/>
              <a:t>14</a:t>
            </a:fld>
            <a:endParaRPr lang="en-US" dirty="0"/>
          </a:p>
        </p:txBody>
      </p:sp>
      <p:sp>
        <p:nvSpPr>
          <p:cNvPr id="11" name="TextBox 10">
            <a:extLst>
              <a:ext uri="{FF2B5EF4-FFF2-40B4-BE49-F238E27FC236}">
                <a16:creationId xmlns:a16="http://schemas.microsoft.com/office/drawing/2014/main" id="{5233716D-9D21-90E8-B68D-0A7C11D5C20F}"/>
              </a:ext>
            </a:extLst>
          </p:cNvPr>
          <p:cNvSpPr txBox="1"/>
          <p:nvPr/>
        </p:nvSpPr>
        <p:spPr>
          <a:xfrm>
            <a:off x="1638080" y="1532273"/>
            <a:ext cx="7739282"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comes in different forms. Structured data is highly organized, like student records in a database. Unstructured data includes things like social media posts, images, or videos that don’t fit neatly into tables. Semi‑structured data is in between—emails, XML, or JSON files have some structure but are not fully tabular. Understanding these types helps businesses decide how to store and analyze information.</a:t>
            </a:r>
            <a:endParaRPr lang="en-US" sz="2800" b="1">
              <a:solidFill>
                <a:schemeClr val="bg1"/>
              </a:solidFill>
              <a:cs typeface="Segoe UI Light"/>
            </a:endParaRPr>
          </a:p>
        </p:txBody>
      </p:sp>
    </p:spTree>
    <p:extLst>
      <p:ext uri="{BB962C8B-B14F-4D97-AF65-F5344CB8AC3E}">
        <p14:creationId xmlns:p14="http://schemas.microsoft.com/office/powerpoint/2010/main" val="556718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E3226-878C-D537-8390-202CD10F4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8B44C-EFD3-956E-CD3A-EC96F515DFCA}"/>
              </a:ext>
            </a:extLst>
          </p:cNvPr>
          <p:cNvSpPr>
            <a:spLocks noGrp="1"/>
          </p:cNvSpPr>
          <p:nvPr>
            <p:ph type="title"/>
          </p:nvPr>
        </p:nvSpPr>
        <p:spPr>
          <a:xfrm>
            <a:off x="1006420" y="389418"/>
            <a:ext cx="10976137" cy="1069848"/>
          </a:xfrm>
        </p:spPr>
        <p:txBody>
          <a:bodyPr>
            <a:normAutofit/>
          </a:bodyPr>
          <a:lstStyle/>
          <a:p>
            <a:r>
              <a:rPr lang="en-US" sz="4800" b="0" dirty="0">
                <a:ln w="28575">
                  <a:noFill/>
                  <a:prstDash val="solid"/>
                </a:ln>
                <a:ea typeface="+mj-lt"/>
                <a:cs typeface="+mj-lt"/>
              </a:rPr>
              <a:t>Common Data </a:t>
            </a:r>
            <a:r>
              <a:rPr lang="en-US" sz="4800" b="0">
                <a:ln w="28575">
                  <a:noFill/>
                  <a:prstDash val="solid"/>
                </a:ln>
                <a:ea typeface="+mj-lt"/>
                <a:cs typeface="+mj-lt"/>
              </a:rPr>
              <a:t>Sources</a:t>
            </a:r>
            <a:endParaRPr lang="en-US">
              <a:ea typeface="+mj-lt"/>
              <a:cs typeface="+mj-lt"/>
            </a:endParaRPr>
          </a:p>
        </p:txBody>
      </p:sp>
      <p:sp>
        <p:nvSpPr>
          <p:cNvPr id="5" name="Slide Number Placeholder 4">
            <a:extLst>
              <a:ext uri="{FF2B5EF4-FFF2-40B4-BE49-F238E27FC236}">
                <a16:creationId xmlns:a16="http://schemas.microsoft.com/office/drawing/2014/main" id="{9A1EE7D4-4D28-91A7-13B2-A487E3D0503E}"/>
              </a:ext>
            </a:extLst>
          </p:cNvPr>
          <p:cNvSpPr>
            <a:spLocks noGrp="1"/>
          </p:cNvSpPr>
          <p:nvPr>
            <p:ph type="sldNum" sz="quarter" idx="11"/>
          </p:nvPr>
        </p:nvSpPr>
        <p:spPr/>
        <p:txBody>
          <a:bodyPr/>
          <a:lstStyle/>
          <a:p>
            <a:fld id="{294A09A9-5501-47C1-A89A-A340965A2BE2}" type="slidenum">
              <a:rPr lang="en-US" smtClean="0"/>
              <a:pPr/>
              <a:t>15</a:t>
            </a:fld>
            <a:endParaRPr lang="en-US" dirty="0"/>
          </a:p>
        </p:txBody>
      </p:sp>
      <p:sp>
        <p:nvSpPr>
          <p:cNvPr id="3" name="Content Placeholder 2">
            <a:extLst>
              <a:ext uri="{FF2B5EF4-FFF2-40B4-BE49-F238E27FC236}">
                <a16:creationId xmlns:a16="http://schemas.microsoft.com/office/drawing/2014/main" id="{2D2BC4A1-DC1F-486A-5750-5AB76732F0B0}"/>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a:ea typeface="+mn-lt"/>
                <a:cs typeface="+mn-lt"/>
              </a:rPr>
              <a:t>Internal: company records, employee data, sales reports</a:t>
            </a:r>
            <a:endParaRPr lang="en-US" b="1" dirty="0">
              <a:latin typeface="Segoe UI Light"/>
              <a:cs typeface="Segoe UI Light"/>
            </a:endParaRPr>
          </a:p>
          <a:p>
            <a:pPr marL="347345" indent="-347345"/>
            <a:r>
              <a:rPr lang="en-US">
                <a:ea typeface="+mn-lt"/>
                <a:cs typeface="+mn-lt"/>
              </a:rPr>
              <a:t>External: market research, social media, government data</a:t>
            </a:r>
            <a:endParaRPr lang="en-US"/>
          </a:p>
          <a:p>
            <a:pPr marL="347345" indent="-347345"/>
            <a:r>
              <a:rPr lang="en-US">
                <a:ea typeface="+mn-lt"/>
                <a:cs typeface="+mn-lt"/>
              </a:rPr>
              <a:t>Databases: relational (SQL) or non‑relational (NoSQL)</a:t>
            </a:r>
            <a:endParaRPr lang="en-US"/>
          </a:p>
          <a:p>
            <a:pPr marL="347345" indent="-347345"/>
            <a:r>
              <a:rPr lang="en-US">
                <a:ea typeface="+mn-lt"/>
                <a:cs typeface="+mn-lt"/>
              </a:rPr>
              <a:t>APIs: connect systems and share data</a:t>
            </a:r>
            <a:endParaRPr lang="en-US"/>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1546500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288D3-50DD-BD0D-7EA3-F781657F7FF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A94324B-A1D1-2F58-4399-2D6208ADFB4A}"/>
              </a:ext>
            </a:extLst>
          </p:cNvPr>
          <p:cNvSpPr>
            <a:spLocks noGrp="1"/>
          </p:cNvSpPr>
          <p:nvPr>
            <p:ph type="sldNum" sz="quarter" idx="11"/>
          </p:nvPr>
        </p:nvSpPr>
        <p:spPr/>
        <p:txBody>
          <a:bodyPr/>
          <a:lstStyle/>
          <a:p>
            <a:fld id="{294A09A9-5501-47C1-A89A-A340965A2BE2}" type="slidenum">
              <a:rPr lang="en-US" smtClean="0"/>
              <a:pPr/>
              <a:t>16</a:t>
            </a:fld>
            <a:endParaRPr lang="en-US" dirty="0"/>
          </a:p>
        </p:txBody>
      </p:sp>
      <p:sp>
        <p:nvSpPr>
          <p:cNvPr id="11" name="TextBox 10">
            <a:extLst>
              <a:ext uri="{FF2B5EF4-FFF2-40B4-BE49-F238E27FC236}">
                <a16:creationId xmlns:a16="http://schemas.microsoft.com/office/drawing/2014/main" id="{29E95DDA-C72E-A24C-1079-28BB6BF5B142}"/>
              </a:ext>
            </a:extLst>
          </p:cNvPr>
          <p:cNvSpPr txBox="1"/>
          <p:nvPr/>
        </p:nvSpPr>
        <p:spPr>
          <a:xfrm>
            <a:off x="1638080" y="1532273"/>
            <a:ext cx="773928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can come from inside the organization (like HR records or sales reports) or outside (like customer feedback, competitor analysis, or government statistics). Databases store structured information, while APIs allow systems to exchange data automatically. Businesses rely on both internal and external sources for decision‑making.</a:t>
            </a:r>
            <a:endParaRPr lang="en-US" b="1">
              <a:solidFill>
                <a:schemeClr val="bg1"/>
              </a:solidFill>
              <a:cs typeface="Segoe UI Light"/>
            </a:endParaRPr>
          </a:p>
        </p:txBody>
      </p:sp>
    </p:spTree>
    <p:extLst>
      <p:ext uri="{BB962C8B-B14F-4D97-AF65-F5344CB8AC3E}">
        <p14:creationId xmlns:p14="http://schemas.microsoft.com/office/powerpoint/2010/main" val="2956538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34B9B-5529-EA7D-4177-2BA935B69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177FA-96C8-076D-C6BD-FF200A1C908B}"/>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Data Collection Methods</a:t>
            </a:r>
            <a:endParaRPr lang="en-US"/>
          </a:p>
        </p:txBody>
      </p:sp>
      <p:sp>
        <p:nvSpPr>
          <p:cNvPr id="5" name="Slide Number Placeholder 4">
            <a:extLst>
              <a:ext uri="{FF2B5EF4-FFF2-40B4-BE49-F238E27FC236}">
                <a16:creationId xmlns:a16="http://schemas.microsoft.com/office/drawing/2014/main" id="{B0324812-2C93-7FC3-E11A-1C9D7912A5A2}"/>
              </a:ext>
            </a:extLst>
          </p:cNvPr>
          <p:cNvSpPr>
            <a:spLocks noGrp="1"/>
          </p:cNvSpPr>
          <p:nvPr>
            <p:ph type="sldNum" sz="quarter" idx="11"/>
          </p:nvPr>
        </p:nvSpPr>
        <p:spPr/>
        <p:txBody>
          <a:bodyPr/>
          <a:lstStyle/>
          <a:p>
            <a:fld id="{294A09A9-5501-47C1-A89A-A340965A2BE2}" type="slidenum">
              <a:rPr lang="en-US" smtClean="0"/>
              <a:pPr/>
              <a:t>17</a:t>
            </a:fld>
            <a:endParaRPr lang="en-US" dirty="0"/>
          </a:p>
        </p:txBody>
      </p:sp>
      <p:sp>
        <p:nvSpPr>
          <p:cNvPr id="3" name="Content Placeholder 2">
            <a:extLst>
              <a:ext uri="{FF2B5EF4-FFF2-40B4-BE49-F238E27FC236}">
                <a16:creationId xmlns:a16="http://schemas.microsoft.com/office/drawing/2014/main" id="{F788AA6E-04B6-2E97-BED5-DEC13798BD02}"/>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Surveys &amp; questionnaires</a:t>
            </a:r>
          </a:p>
          <a:p>
            <a:pPr marL="347345" indent="-347345"/>
            <a:r>
              <a:rPr lang="en-US" b="1">
                <a:ea typeface="+mn-lt"/>
                <a:cs typeface="+mn-lt"/>
              </a:rPr>
              <a:t>Transaction records</a:t>
            </a:r>
          </a:p>
          <a:p>
            <a:pPr marL="347345" indent="-347345"/>
            <a:r>
              <a:rPr lang="en-US" b="1">
                <a:ea typeface="+mn-lt"/>
                <a:cs typeface="+mn-lt"/>
              </a:rPr>
              <a:t>Sensors &amp; IoT devices</a:t>
            </a:r>
          </a:p>
          <a:p>
            <a:pPr marL="347345" indent="-347345"/>
            <a:r>
              <a:rPr lang="en-US" b="1">
                <a:ea typeface="+mn-lt"/>
                <a:cs typeface="+mn-lt"/>
              </a:rPr>
              <a:t>Web scraping &amp; APIs</a:t>
            </a:r>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969466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7176A-CBAB-35C8-35C2-1D4D8192630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A22F91F-DA17-B571-0C59-747EBBA0A673}"/>
              </a:ext>
            </a:extLst>
          </p:cNvPr>
          <p:cNvSpPr>
            <a:spLocks noGrp="1"/>
          </p:cNvSpPr>
          <p:nvPr>
            <p:ph type="sldNum" sz="quarter" idx="11"/>
          </p:nvPr>
        </p:nvSpPr>
        <p:spPr/>
        <p:txBody>
          <a:bodyPr/>
          <a:lstStyle/>
          <a:p>
            <a:fld id="{294A09A9-5501-47C1-A89A-A340965A2BE2}" type="slidenum">
              <a:rPr lang="en-US" smtClean="0"/>
              <a:pPr/>
              <a:t>18</a:t>
            </a:fld>
            <a:endParaRPr lang="en-US" dirty="0"/>
          </a:p>
        </p:txBody>
      </p:sp>
      <p:sp>
        <p:nvSpPr>
          <p:cNvPr id="11" name="TextBox 10">
            <a:extLst>
              <a:ext uri="{FF2B5EF4-FFF2-40B4-BE49-F238E27FC236}">
                <a16:creationId xmlns:a16="http://schemas.microsoft.com/office/drawing/2014/main" id="{7D8E91AA-9089-1351-2F66-28724436C0E3}"/>
              </a:ext>
            </a:extLst>
          </p:cNvPr>
          <p:cNvSpPr txBox="1"/>
          <p:nvPr/>
        </p:nvSpPr>
        <p:spPr>
          <a:xfrm>
            <a:off x="1638080" y="1532273"/>
            <a:ext cx="7739282"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is collected in many ways. Surveys and questionnaires gather opinions. Transaction records capture sales and purchases. Sensors and IoT devices collect real‑time data (like temperature or machine performance). Web scraping and APIs pull data from websites or applications. Choosing the right method depends on the type of data needed.</a:t>
            </a:r>
            <a:endParaRPr lang="en-US" b="1">
              <a:solidFill>
                <a:schemeClr val="bg1"/>
              </a:solidFill>
              <a:ea typeface="+mn-lt"/>
              <a:cs typeface="+mn-lt"/>
            </a:endParaRPr>
          </a:p>
        </p:txBody>
      </p:sp>
    </p:spTree>
    <p:extLst>
      <p:ext uri="{BB962C8B-B14F-4D97-AF65-F5344CB8AC3E}">
        <p14:creationId xmlns:p14="http://schemas.microsoft.com/office/powerpoint/2010/main" val="207773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3EAA9-1DFD-2EF0-265E-3D243070E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C36C1-FE01-F719-9EE9-B3D35E7AA54B}"/>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Data Lifecycle Management</a:t>
            </a:r>
            <a:endParaRPr lang="en-US">
              <a:ea typeface="+mj-lt"/>
              <a:cs typeface="+mj-lt"/>
            </a:endParaRPr>
          </a:p>
        </p:txBody>
      </p:sp>
      <p:sp>
        <p:nvSpPr>
          <p:cNvPr id="5" name="Slide Number Placeholder 4">
            <a:extLst>
              <a:ext uri="{FF2B5EF4-FFF2-40B4-BE49-F238E27FC236}">
                <a16:creationId xmlns:a16="http://schemas.microsoft.com/office/drawing/2014/main" id="{DA34A420-6BE1-9476-0BCB-B04274763172}"/>
              </a:ext>
            </a:extLst>
          </p:cNvPr>
          <p:cNvSpPr>
            <a:spLocks noGrp="1"/>
          </p:cNvSpPr>
          <p:nvPr>
            <p:ph type="sldNum" sz="quarter" idx="11"/>
          </p:nvPr>
        </p:nvSpPr>
        <p:spPr/>
        <p:txBody>
          <a:bodyPr/>
          <a:lstStyle/>
          <a:p>
            <a:fld id="{294A09A9-5501-47C1-A89A-A340965A2BE2}" type="slidenum">
              <a:rPr lang="en-US" smtClean="0"/>
              <a:pPr/>
              <a:t>19</a:t>
            </a:fld>
            <a:endParaRPr lang="en-US" dirty="0"/>
          </a:p>
        </p:txBody>
      </p:sp>
      <p:sp>
        <p:nvSpPr>
          <p:cNvPr id="3" name="Content Placeholder 2">
            <a:extLst>
              <a:ext uri="{FF2B5EF4-FFF2-40B4-BE49-F238E27FC236}">
                <a16:creationId xmlns:a16="http://schemas.microsoft.com/office/drawing/2014/main" id="{0C76D2D7-8318-4A24-6C42-5CB3A883E228}"/>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Creation: data generated or collected</a:t>
            </a:r>
            <a:endParaRPr lang="en-US" b="1" dirty="0">
              <a:ea typeface="+mn-lt"/>
              <a:cs typeface="+mn-lt"/>
            </a:endParaRPr>
          </a:p>
          <a:p>
            <a:pPr marL="347345" indent="-347345"/>
            <a:r>
              <a:rPr lang="en-US" b="1">
                <a:ea typeface="+mn-lt"/>
                <a:cs typeface="+mn-lt"/>
              </a:rPr>
              <a:t>Storage: saved in databases/cloud</a:t>
            </a:r>
          </a:p>
          <a:p>
            <a:pPr marL="347345" indent="-347345"/>
            <a:r>
              <a:rPr lang="en-US" b="1">
                <a:ea typeface="+mn-lt"/>
                <a:cs typeface="+mn-lt"/>
              </a:rPr>
              <a:t>Usage: analyzed for insights</a:t>
            </a:r>
          </a:p>
          <a:p>
            <a:pPr marL="347345" indent="-347345"/>
            <a:r>
              <a:rPr lang="en-US" b="1">
                <a:ea typeface="+mn-lt"/>
                <a:cs typeface="+mn-lt"/>
              </a:rPr>
              <a:t>Archiving: stored for long‑term reference</a:t>
            </a:r>
          </a:p>
          <a:p>
            <a:pPr marL="347345" indent="-347345"/>
            <a:r>
              <a:rPr lang="en-US" b="1">
                <a:ea typeface="+mn-lt"/>
                <a:cs typeface="+mn-lt"/>
              </a:rPr>
              <a:t>Deletion: removed when no longer needed</a:t>
            </a:r>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864138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A97D-1F82-AF39-0D27-7B5E93F2D94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4E37B95-AAA5-71DF-570C-E92D25328234}"/>
              </a:ext>
            </a:extLst>
          </p:cNvPr>
          <p:cNvSpPr>
            <a:spLocks noGrp="1"/>
          </p:cNvSpPr>
          <p:nvPr>
            <p:ph type="sldNum" sz="quarter" idx="11"/>
          </p:nvPr>
        </p:nvSpPr>
        <p:spPr/>
        <p:txBody>
          <a:bodyPr/>
          <a:lstStyle/>
          <a:p>
            <a:fld id="{294A09A9-5501-47C1-A89A-A340965A2BE2}" type="slidenum">
              <a:rPr lang="en-US" smtClean="0"/>
              <a:pPr/>
              <a:t>20</a:t>
            </a:fld>
            <a:endParaRPr lang="en-US" dirty="0"/>
          </a:p>
        </p:txBody>
      </p:sp>
      <p:sp>
        <p:nvSpPr>
          <p:cNvPr id="11" name="TextBox 10">
            <a:extLst>
              <a:ext uri="{FF2B5EF4-FFF2-40B4-BE49-F238E27FC236}">
                <a16:creationId xmlns:a16="http://schemas.microsoft.com/office/drawing/2014/main" id="{59F7C754-0796-677B-95FB-4A771128414F}"/>
              </a:ext>
            </a:extLst>
          </p:cNvPr>
          <p:cNvSpPr txBox="1"/>
          <p:nvPr/>
        </p:nvSpPr>
        <p:spPr>
          <a:xfrm>
            <a:off x="1638080" y="1532273"/>
            <a:ext cx="773928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goes through a lifecycle. It is first created or collected, then stored securely. Businesses use it for analysis and decision‑making. Later, it may be archived for compliance or historical records. Finally, data is deleted to free space or meet privacy regulations. Managing this lifecycle ensures efficiency and security.</a:t>
            </a:r>
            <a:endParaRPr lang="en-US" b="1">
              <a:solidFill>
                <a:schemeClr val="bg1"/>
              </a:solidFill>
              <a:ea typeface="+mn-lt"/>
              <a:cs typeface="+mn-lt"/>
            </a:endParaRPr>
          </a:p>
        </p:txBody>
      </p:sp>
    </p:spTree>
    <p:extLst>
      <p:ext uri="{BB962C8B-B14F-4D97-AF65-F5344CB8AC3E}">
        <p14:creationId xmlns:p14="http://schemas.microsoft.com/office/powerpoint/2010/main" val="2396853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C2480-79DA-7878-1E1F-BE2B03E5F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204C4-C793-4A78-49CC-31C9CAA0EB9C}"/>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Data Quality and Integrity</a:t>
            </a:r>
            <a:endParaRPr lang="en-US"/>
          </a:p>
        </p:txBody>
      </p:sp>
      <p:sp>
        <p:nvSpPr>
          <p:cNvPr id="5" name="Slide Number Placeholder 4">
            <a:extLst>
              <a:ext uri="{FF2B5EF4-FFF2-40B4-BE49-F238E27FC236}">
                <a16:creationId xmlns:a16="http://schemas.microsoft.com/office/drawing/2014/main" id="{3A4C65E9-0E6B-0C3E-B304-42966DF9D55C}"/>
              </a:ext>
            </a:extLst>
          </p:cNvPr>
          <p:cNvSpPr>
            <a:spLocks noGrp="1"/>
          </p:cNvSpPr>
          <p:nvPr>
            <p:ph type="sldNum" sz="quarter" idx="11"/>
          </p:nvPr>
        </p:nvSpPr>
        <p:spPr/>
        <p:txBody>
          <a:bodyPr/>
          <a:lstStyle/>
          <a:p>
            <a:fld id="{294A09A9-5501-47C1-A89A-A340965A2BE2}" type="slidenum">
              <a:rPr lang="en-US" smtClean="0"/>
              <a:pPr/>
              <a:t>21</a:t>
            </a:fld>
            <a:endParaRPr lang="en-US" dirty="0"/>
          </a:p>
        </p:txBody>
      </p:sp>
      <p:sp>
        <p:nvSpPr>
          <p:cNvPr id="3" name="Content Placeholder 2">
            <a:extLst>
              <a:ext uri="{FF2B5EF4-FFF2-40B4-BE49-F238E27FC236}">
                <a16:creationId xmlns:a16="http://schemas.microsoft.com/office/drawing/2014/main" id="{B06E9BF6-349E-3CC7-0B69-E24B94095048}"/>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Accuracy: data must be correct</a:t>
            </a:r>
            <a:endParaRPr lang="en-US" b="1" dirty="0">
              <a:latin typeface="Segoe UI Light"/>
              <a:cs typeface="Segoe UI Light"/>
            </a:endParaRPr>
          </a:p>
          <a:p>
            <a:pPr marL="347345" indent="-347345"/>
            <a:r>
              <a:rPr lang="en-US" b="1">
                <a:ea typeface="+mn-lt"/>
                <a:cs typeface="+mn-lt"/>
              </a:rPr>
              <a:t>Consistency: same across systems</a:t>
            </a:r>
            <a:endParaRPr lang="en-US" b="1"/>
          </a:p>
          <a:p>
            <a:pPr marL="347345" indent="-347345"/>
            <a:r>
              <a:rPr lang="en-US" b="1">
                <a:ea typeface="+mn-lt"/>
                <a:cs typeface="+mn-lt"/>
              </a:rPr>
              <a:t>Completeness: no missing values</a:t>
            </a:r>
            <a:endParaRPr lang="en-US" b="1"/>
          </a:p>
          <a:p>
            <a:pPr marL="347345" indent="-347345"/>
            <a:r>
              <a:rPr lang="en-US" b="1">
                <a:ea typeface="+mn-lt"/>
                <a:cs typeface="+mn-lt"/>
              </a:rPr>
              <a:t>Reliability: trustworthy and secure</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328868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F9BBB-F194-7CE0-CD37-1D3BF2B53EC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67A4828-428D-0F2F-E61B-B8FD03B76B88}"/>
              </a:ext>
            </a:extLst>
          </p:cNvPr>
          <p:cNvSpPr>
            <a:spLocks noGrp="1"/>
          </p:cNvSpPr>
          <p:nvPr>
            <p:ph type="sldNum" sz="quarter" idx="11"/>
          </p:nvPr>
        </p:nvSpPr>
        <p:spPr/>
        <p:txBody>
          <a:bodyPr/>
          <a:lstStyle/>
          <a:p>
            <a:fld id="{294A09A9-5501-47C1-A89A-A340965A2BE2}" type="slidenum">
              <a:rPr lang="en-US" smtClean="0"/>
              <a:pPr/>
              <a:t>22</a:t>
            </a:fld>
            <a:endParaRPr lang="en-US" dirty="0"/>
          </a:p>
        </p:txBody>
      </p:sp>
      <p:sp>
        <p:nvSpPr>
          <p:cNvPr id="11" name="TextBox 10">
            <a:extLst>
              <a:ext uri="{FF2B5EF4-FFF2-40B4-BE49-F238E27FC236}">
                <a16:creationId xmlns:a16="http://schemas.microsoft.com/office/drawing/2014/main" id="{F634F71C-A1D9-5108-D2D0-227528CE0DB6}"/>
              </a:ext>
            </a:extLst>
          </p:cNvPr>
          <p:cNvSpPr txBox="1"/>
          <p:nvPr/>
        </p:nvSpPr>
        <p:spPr>
          <a:xfrm>
            <a:off x="1638080" y="1532273"/>
            <a:ext cx="773928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High‑quality data is essential. Accuracy means the data reflects reality. Consistency ensures the same data is used across all systems. Completeness avoids gaps that could mislead analysis. Reliability means the data is secure and can be trusted. Poor data quality leads to wrong decisions, so integrity is critical.</a:t>
            </a:r>
            <a:endParaRPr lang="en-US" b="1">
              <a:solidFill>
                <a:schemeClr val="bg1"/>
              </a:solidFill>
              <a:cs typeface="Segoe UI Light"/>
            </a:endParaRPr>
          </a:p>
        </p:txBody>
      </p:sp>
    </p:spTree>
    <p:extLst>
      <p:ext uri="{BB962C8B-B14F-4D97-AF65-F5344CB8AC3E}">
        <p14:creationId xmlns:p14="http://schemas.microsoft.com/office/powerpoint/2010/main" val="3900492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A7C6B-FAF2-4E1D-A3E5-EB231A71E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F2807-5D80-91EE-B63C-6CB2A776BD9E}"/>
              </a:ext>
            </a:extLst>
          </p:cNvPr>
          <p:cNvSpPr>
            <a:spLocks noGrp="1"/>
          </p:cNvSpPr>
          <p:nvPr>
            <p:ph type="ctrTitle"/>
          </p:nvPr>
        </p:nvSpPr>
        <p:spPr>
          <a:xfrm>
            <a:off x="2329688" y="3195755"/>
            <a:ext cx="7735824" cy="1069848"/>
          </a:xfrm>
        </p:spPr>
        <p:txBody>
          <a:bodyPr vert="horz" lIns="91440" tIns="45720" rIns="91440" bIns="45720" rtlCol="0" anchor="ctr">
            <a:noAutofit/>
          </a:bodyPr>
          <a:lstStyle/>
          <a:p>
            <a:r>
              <a:rPr lang="en-US" sz="4800" b="0">
                <a:ea typeface="+mj-lt"/>
                <a:cs typeface="+mj-lt"/>
              </a:rPr>
              <a:t>Introduction to Business Analyst Role</a:t>
            </a:r>
            <a:endParaRPr lang="en-US"/>
          </a:p>
        </p:txBody>
      </p:sp>
    </p:spTree>
    <p:extLst>
      <p:ext uri="{BB962C8B-B14F-4D97-AF65-F5344CB8AC3E}">
        <p14:creationId xmlns:p14="http://schemas.microsoft.com/office/powerpoint/2010/main" val="3861319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E6A4A-8609-4F9B-0CBF-60EC21364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09F4A-AFFF-EFB6-4EA7-6B0008851B42}"/>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Definition of a Business Analyst</a:t>
            </a:r>
            <a:endParaRPr lang="en-US">
              <a:ea typeface="+mj-lt"/>
              <a:cs typeface="+mj-lt"/>
            </a:endParaRPr>
          </a:p>
        </p:txBody>
      </p:sp>
      <p:sp>
        <p:nvSpPr>
          <p:cNvPr id="5" name="Slide Number Placeholder 4">
            <a:extLst>
              <a:ext uri="{FF2B5EF4-FFF2-40B4-BE49-F238E27FC236}">
                <a16:creationId xmlns:a16="http://schemas.microsoft.com/office/drawing/2014/main" id="{BE4C7D40-D498-9C83-8FDD-2554657E97CC}"/>
              </a:ext>
            </a:extLst>
          </p:cNvPr>
          <p:cNvSpPr>
            <a:spLocks noGrp="1"/>
          </p:cNvSpPr>
          <p:nvPr>
            <p:ph type="sldNum" sz="quarter" idx="11"/>
          </p:nvPr>
        </p:nvSpPr>
        <p:spPr/>
        <p:txBody>
          <a:bodyPr/>
          <a:lstStyle/>
          <a:p>
            <a:fld id="{294A09A9-5501-47C1-A89A-A340965A2BE2}" type="slidenum">
              <a:rPr lang="en-US" smtClean="0"/>
              <a:pPr/>
              <a:t>24</a:t>
            </a:fld>
            <a:endParaRPr lang="en-US" dirty="0"/>
          </a:p>
        </p:txBody>
      </p:sp>
      <p:sp>
        <p:nvSpPr>
          <p:cNvPr id="3" name="Content Placeholder 2">
            <a:extLst>
              <a:ext uri="{FF2B5EF4-FFF2-40B4-BE49-F238E27FC236}">
                <a16:creationId xmlns:a16="http://schemas.microsoft.com/office/drawing/2014/main" id="{7CF49F9D-2D9F-4BB9-BDD4-F218FB37EA11}"/>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BA = link between business and IT</a:t>
            </a:r>
            <a:endParaRPr lang="en-US" b="1" dirty="0">
              <a:latin typeface="Segoe UI Light"/>
              <a:cs typeface="Segoe UI Light"/>
            </a:endParaRPr>
          </a:p>
          <a:p>
            <a:pPr marL="347345" indent="-347345"/>
            <a:r>
              <a:rPr lang="en-US" b="1">
                <a:ea typeface="+mn-lt"/>
                <a:cs typeface="+mn-lt"/>
              </a:rPr>
              <a:t>Identifies needs, proposes solutions</a:t>
            </a:r>
            <a:endParaRPr lang="en-US" b="1"/>
          </a:p>
          <a:p>
            <a:pPr marL="347345" indent="-347345"/>
            <a:r>
              <a:rPr lang="en-US" b="1">
                <a:ea typeface="+mn-lt"/>
                <a:cs typeface="+mn-lt"/>
              </a:rPr>
              <a:t>Ensures projects meet objectives</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1415810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1883-3036-B22E-612E-DF66A0E8487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6C3B1AE-39D4-EE50-FDFD-B14C64556940}"/>
              </a:ext>
            </a:extLst>
          </p:cNvPr>
          <p:cNvSpPr>
            <a:spLocks noGrp="1"/>
          </p:cNvSpPr>
          <p:nvPr>
            <p:ph type="sldNum" sz="quarter" idx="11"/>
          </p:nvPr>
        </p:nvSpPr>
        <p:spPr/>
        <p:txBody>
          <a:bodyPr/>
          <a:lstStyle/>
          <a:p>
            <a:fld id="{294A09A9-5501-47C1-A89A-A340965A2BE2}" type="slidenum">
              <a:rPr lang="en-US" smtClean="0"/>
              <a:pPr/>
              <a:t>25</a:t>
            </a:fld>
            <a:endParaRPr lang="en-US" dirty="0"/>
          </a:p>
        </p:txBody>
      </p:sp>
      <p:sp>
        <p:nvSpPr>
          <p:cNvPr id="11" name="TextBox 10">
            <a:extLst>
              <a:ext uri="{FF2B5EF4-FFF2-40B4-BE49-F238E27FC236}">
                <a16:creationId xmlns:a16="http://schemas.microsoft.com/office/drawing/2014/main" id="{50622E8B-6DE3-9806-EE92-904D6BE84F34}"/>
              </a:ext>
            </a:extLst>
          </p:cNvPr>
          <p:cNvSpPr txBox="1"/>
          <p:nvPr/>
        </p:nvSpPr>
        <p:spPr>
          <a:xfrm>
            <a:off x="1638080" y="1532273"/>
            <a:ext cx="773928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A Business Analyst is a professional who understands business problems and translates them into technical solutions. They act as a bridge between stakeholders and IT teams, ensuring that projects deliver value.</a:t>
            </a:r>
            <a:endParaRPr lang="en-US" b="1">
              <a:solidFill>
                <a:schemeClr val="bg1"/>
              </a:solidFill>
              <a:cs typeface="Segoe UI Light"/>
            </a:endParaRPr>
          </a:p>
        </p:txBody>
      </p:sp>
    </p:spTree>
    <p:extLst>
      <p:ext uri="{BB962C8B-B14F-4D97-AF65-F5344CB8AC3E}">
        <p14:creationId xmlns:p14="http://schemas.microsoft.com/office/powerpoint/2010/main" val="4077440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91290-066C-C06C-8B1F-EB8728794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90B13-BC24-2553-EAA2-E96D6B8A2015}"/>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Responsibilities of a Business Analyst</a:t>
            </a:r>
            <a:endParaRPr lang="en-US"/>
          </a:p>
        </p:txBody>
      </p:sp>
      <p:sp>
        <p:nvSpPr>
          <p:cNvPr id="5" name="Slide Number Placeholder 4">
            <a:extLst>
              <a:ext uri="{FF2B5EF4-FFF2-40B4-BE49-F238E27FC236}">
                <a16:creationId xmlns:a16="http://schemas.microsoft.com/office/drawing/2014/main" id="{32C00F10-A4B5-CFB3-E048-B87B1F5C53AB}"/>
              </a:ext>
            </a:extLst>
          </p:cNvPr>
          <p:cNvSpPr>
            <a:spLocks noGrp="1"/>
          </p:cNvSpPr>
          <p:nvPr>
            <p:ph type="sldNum" sz="quarter" idx="11"/>
          </p:nvPr>
        </p:nvSpPr>
        <p:spPr/>
        <p:txBody>
          <a:bodyPr/>
          <a:lstStyle/>
          <a:p>
            <a:fld id="{294A09A9-5501-47C1-A89A-A340965A2BE2}" type="slidenum">
              <a:rPr lang="en-US" smtClean="0"/>
              <a:pPr/>
              <a:t>26</a:t>
            </a:fld>
            <a:endParaRPr lang="en-US" dirty="0"/>
          </a:p>
        </p:txBody>
      </p:sp>
      <p:sp>
        <p:nvSpPr>
          <p:cNvPr id="3" name="Content Placeholder 2">
            <a:extLst>
              <a:ext uri="{FF2B5EF4-FFF2-40B4-BE49-F238E27FC236}">
                <a16:creationId xmlns:a16="http://schemas.microsoft.com/office/drawing/2014/main" id="{BDFDD73A-3B0A-B81F-2BC5-4E1A9E4EEF87}"/>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Gather and document requirements</a:t>
            </a:r>
            <a:endParaRPr lang="en-US" b="1" dirty="0">
              <a:latin typeface="Segoe UI Light"/>
              <a:cs typeface="Segoe UI Light"/>
            </a:endParaRPr>
          </a:p>
          <a:p>
            <a:pPr marL="347345" indent="-347345"/>
            <a:r>
              <a:rPr lang="en-US" b="1">
                <a:ea typeface="+mn-lt"/>
                <a:cs typeface="+mn-lt"/>
              </a:rPr>
              <a:t>Analyze processes and suggest improvements</a:t>
            </a:r>
            <a:endParaRPr lang="en-US" b="1"/>
          </a:p>
          <a:p>
            <a:pPr marL="347345" indent="-347345"/>
            <a:r>
              <a:rPr lang="en-US" b="1">
                <a:ea typeface="+mn-lt"/>
                <a:cs typeface="+mn-lt"/>
              </a:rPr>
              <a:t>Support testing and implementation</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697552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6058D-4A4F-25CA-48B4-9ACDA03FB3A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B3753E7-ECDC-B5BE-AECC-0D80F9F94B33}"/>
              </a:ext>
            </a:extLst>
          </p:cNvPr>
          <p:cNvSpPr>
            <a:spLocks noGrp="1"/>
          </p:cNvSpPr>
          <p:nvPr>
            <p:ph type="sldNum" sz="quarter" idx="11"/>
          </p:nvPr>
        </p:nvSpPr>
        <p:spPr/>
        <p:txBody>
          <a:bodyPr/>
          <a:lstStyle/>
          <a:p>
            <a:fld id="{294A09A9-5501-47C1-A89A-A340965A2BE2}" type="slidenum">
              <a:rPr lang="en-US" smtClean="0"/>
              <a:pPr/>
              <a:t>27</a:t>
            </a:fld>
            <a:endParaRPr lang="en-US" dirty="0"/>
          </a:p>
        </p:txBody>
      </p:sp>
      <p:sp>
        <p:nvSpPr>
          <p:cNvPr id="11" name="TextBox 10">
            <a:extLst>
              <a:ext uri="{FF2B5EF4-FFF2-40B4-BE49-F238E27FC236}">
                <a16:creationId xmlns:a16="http://schemas.microsoft.com/office/drawing/2014/main" id="{3E2D730C-8BA8-99C0-42C1-873A631B67E2}"/>
              </a:ext>
            </a:extLst>
          </p:cNvPr>
          <p:cNvSpPr txBox="1"/>
          <p:nvPr/>
        </p:nvSpPr>
        <p:spPr>
          <a:xfrm>
            <a:off x="1638080" y="1532273"/>
            <a:ext cx="773928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BAs collect requirements from stakeholders, analyze workflows, and recommend improvements. They also help in testing solutions and ensuring smooth implementation.</a:t>
            </a:r>
            <a:endParaRPr lang="en-US" b="1">
              <a:solidFill>
                <a:schemeClr val="bg1"/>
              </a:solidFill>
              <a:cs typeface="Segoe UI Light"/>
            </a:endParaRPr>
          </a:p>
        </p:txBody>
      </p:sp>
    </p:spTree>
    <p:extLst>
      <p:ext uri="{BB962C8B-B14F-4D97-AF65-F5344CB8AC3E}">
        <p14:creationId xmlns:p14="http://schemas.microsoft.com/office/powerpoint/2010/main" val="1750208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AA3C-81D9-782D-123E-1716536BD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93441-BEAC-2DF3-B808-F9D8BA4CF52D}"/>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Key Skills: Communication</a:t>
            </a:r>
            <a:endParaRPr lang="en-US"/>
          </a:p>
        </p:txBody>
      </p:sp>
      <p:sp>
        <p:nvSpPr>
          <p:cNvPr id="5" name="Slide Number Placeholder 4">
            <a:extLst>
              <a:ext uri="{FF2B5EF4-FFF2-40B4-BE49-F238E27FC236}">
                <a16:creationId xmlns:a16="http://schemas.microsoft.com/office/drawing/2014/main" id="{634F686A-1045-EA8A-B188-A8D1EF710EE6}"/>
              </a:ext>
            </a:extLst>
          </p:cNvPr>
          <p:cNvSpPr>
            <a:spLocks noGrp="1"/>
          </p:cNvSpPr>
          <p:nvPr>
            <p:ph type="sldNum" sz="quarter" idx="11"/>
          </p:nvPr>
        </p:nvSpPr>
        <p:spPr/>
        <p:txBody>
          <a:bodyPr/>
          <a:lstStyle/>
          <a:p>
            <a:fld id="{294A09A9-5501-47C1-A89A-A340965A2BE2}" type="slidenum">
              <a:rPr lang="en-US" smtClean="0"/>
              <a:pPr/>
              <a:t>28</a:t>
            </a:fld>
            <a:endParaRPr lang="en-US" dirty="0"/>
          </a:p>
        </p:txBody>
      </p:sp>
      <p:sp>
        <p:nvSpPr>
          <p:cNvPr id="3" name="Content Placeholder 2">
            <a:extLst>
              <a:ext uri="{FF2B5EF4-FFF2-40B4-BE49-F238E27FC236}">
                <a16:creationId xmlns:a16="http://schemas.microsoft.com/office/drawing/2014/main" id="{37B69760-C613-D3E3-ABA8-9E0BF655EB29}"/>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Clear verbal &amp; written communication</a:t>
            </a:r>
            <a:endParaRPr lang="en-US" b="1" dirty="0">
              <a:latin typeface="Segoe UI Light"/>
              <a:cs typeface="Segoe UI Light"/>
            </a:endParaRPr>
          </a:p>
          <a:p>
            <a:pPr marL="347345" indent="-347345"/>
            <a:r>
              <a:rPr lang="en-US" b="1">
                <a:ea typeface="+mn-lt"/>
                <a:cs typeface="+mn-lt"/>
              </a:rPr>
              <a:t>Active listening</a:t>
            </a:r>
            <a:endParaRPr lang="en-US" b="1"/>
          </a:p>
          <a:p>
            <a:pPr marL="347345" indent="-347345"/>
            <a:r>
              <a:rPr lang="en-US" b="1">
                <a:ea typeface="+mn-lt"/>
                <a:cs typeface="+mn-lt"/>
              </a:rPr>
              <a:t>Negotiation with stakeholders</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022340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417D5-5765-5263-A2A0-7CA2EEC37F1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BFF523C-B8CC-28F8-17BC-C658B3AC8F02}"/>
              </a:ext>
            </a:extLst>
          </p:cNvPr>
          <p:cNvSpPr>
            <a:spLocks noGrp="1"/>
          </p:cNvSpPr>
          <p:nvPr>
            <p:ph type="sldNum" sz="quarter" idx="11"/>
          </p:nvPr>
        </p:nvSpPr>
        <p:spPr/>
        <p:txBody>
          <a:bodyPr/>
          <a:lstStyle/>
          <a:p>
            <a:fld id="{294A09A9-5501-47C1-A89A-A340965A2BE2}" type="slidenum">
              <a:rPr lang="en-US" smtClean="0"/>
              <a:pPr/>
              <a:t>29</a:t>
            </a:fld>
            <a:endParaRPr lang="en-US" dirty="0"/>
          </a:p>
        </p:txBody>
      </p:sp>
      <p:sp>
        <p:nvSpPr>
          <p:cNvPr id="11" name="TextBox 10">
            <a:extLst>
              <a:ext uri="{FF2B5EF4-FFF2-40B4-BE49-F238E27FC236}">
                <a16:creationId xmlns:a16="http://schemas.microsoft.com/office/drawing/2014/main" id="{F41EAAB3-FD31-585E-AF63-D72B74D7B7C0}"/>
              </a:ext>
            </a:extLst>
          </p:cNvPr>
          <p:cNvSpPr txBox="1"/>
          <p:nvPr/>
        </p:nvSpPr>
        <p:spPr>
          <a:xfrm>
            <a:off x="1638080" y="1532273"/>
            <a:ext cx="773928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Strong communication is essential. BAs must explain technical ideas in simple terms, listen carefully to stakeholders, and negotiate between conflicting needs.</a:t>
            </a:r>
            <a:endParaRPr lang="en-US" b="1">
              <a:solidFill>
                <a:schemeClr val="bg1"/>
              </a:solidFill>
              <a:cs typeface="Segoe UI Light"/>
            </a:endParaRPr>
          </a:p>
          <a:p>
            <a:endParaRPr lang="en-US" sz="2800" b="1" dirty="0">
              <a:solidFill>
                <a:schemeClr val="bg1"/>
              </a:solidFill>
              <a:cs typeface="Segoe UI Light"/>
            </a:endParaRPr>
          </a:p>
        </p:txBody>
      </p:sp>
    </p:spTree>
    <p:extLst>
      <p:ext uri="{BB962C8B-B14F-4D97-AF65-F5344CB8AC3E}">
        <p14:creationId xmlns:p14="http://schemas.microsoft.com/office/powerpoint/2010/main" val="3551239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08517-B357-B9F8-58D2-249382D55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1D865-6418-A2C3-1C29-BAE014356C73}"/>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Key Skills: Analytical Thinking</a:t>
            </a:r>
            <a:endParaRPr lang="en-US">
              <a:ea typeface="+mj-lt"/>
              <a:cs typeface="+mj-lt"/>
            </a:endParaRPr>
          </a:p>
        </p:txBody>
      </p:sp>
      <p:sp>
        <p:nvSpPr>
          <p:cNvPr id="5" name="Slide Number Placeholder 4">
            <a:extLst>
              <a:ext uri="{FF2B5EF4-FFF2-40B4-BE49-F238E27FC236}">
                <a16:creationId xmlns:a16="http://schemas.microsoft.com/office/drawing/2014/main" id="{D70BA724-EC4C-A52F-484A-1B79A5BA6ACD}"/>
              </a:ext>
            </a:extLst>
          </p:cNvPr>
          <p:cNvSpPr>
            <a:spLocks noGrp="1"/>
          </p:cNvSpPr>
          <p:nvPr>
            <p:ph type="sldNum" sz="quarter" idx="11"/>
          </p:nvPr>
        </p:nvSpPr>
        <p:spPr/>
        <p:txBody>
          <a:bodyPr/>
          <a:lstStyle/>
          <a:p>
            <a:fld id="{294A09A9-5501-47C1-A89A-A340965A2BE2}" type="slidenum">
              <a:rPr lang="en-US" smtClean="0"/>
              <a:pPr/>
              <a:t>30</a:t>
            </a:fld>
            <a:endParaRPr lang="en-US" dirty="0"/>
          </a:p>
        </p:txBody>
      </p:sp>
      <p:sp>
        <p:nvSpPr>
          <p:cNvPr id="3" name="Content Placeholder 2">
            <a:extLst>
              <a:ext uri="{FF2B5EF4-FFF2-40B4-BE49-F238E27FC236}">
                <a16:creationId xmlns:a16="http://schemas.microsoft.com/office/drawing/2014/main" id="{B102E44B-F694-0C82-89E5-F706D7CF8B3E}"/>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Break down complex problems</a:t>
            </a:r>
            <a:endParaRPr lang="en-US" b="1" dirty="0">
              <a:latin typeface="Segoe UI Light"/>
              <a:cs typeface="Segoe UI Light"/>
            </a:endParaRPr>
          </a:p>
          <a:p>
            <a:pPr marL="347345" indent="-347345"/>
            <a:r>
              <a:rPr lang="en-US" b="1">
                <a:ea typeface="+mn-lt"/>
                <a:cs typeface="+mn-lt"/>
              </a:rPr>
              <a:t>Identify patterns &amp; trends</a:t>
            </a:r>
            <a:endParaRPr lang="en-US" b="1"/>
          </a:p>
          <a:p>
            <a:pPr marL="347345" indent="-347345"/>
            <a:r>
              <a:rPr lang="en-US" b="1">
                <a:ea typeface="+mn-lt"/>
                <a:cs typeface="+mn-lt"/>
              </a:rPr>
              <a:t>Evaluate options logically</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998266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79E56-11AC-CDC0-6E13-DC43AAB79EC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CB6019E-D984-FFB4-B8C3-61319719C2BF}"/>
              </a:ext>
            </a:extLst>
          </p:cNvPr>
          <p:cNvSpPr>
            <a:spLocks noGrp="1"/>
          </p:cNvSpPr>
          <p:nvPr>
            <p:ph type="sldNum" sz="quarter" idx="11"/>
          </p:nvPr>
        </p:nvSpPr>
        <p:spPr/>
        <p:txBody>
          <a:bodyPr/>
          <a:lstStyle/>
          <a:p>
            <a:fld id="{294A09A9-5501-47C1-A89A-A340965A2BE2}" type="slidenum">
              <a:rPr lang="en-US" smtClean="0"/>
              <a:pPr/>
              <a:t>31</a:t>
            </a:fld>
            <a:endParaRPr lang="en-US" dirty="0"/>
          </a:p>
        </p:txBody>
      </p:sp>
      <p:sp>
        <p:nvSpPr>
          <p:cNvPr id="11" name="TextBox 10">
            <a:extLst>
              <a:ext uri="{FF2B5EF4-FFF2-40B4-BE49-F238E27FC236}">
                <a16:creationId xmlns:a16="http://schemas.microsoft.com/office/drawing/2014/main" id="{5CE875DF-3EC4-2CB4-F9BC-4F0F4C211D69}"/>
              </a:ext>
            </a:extLst>
          </p:cNvPr>
          <p:cNvSpPr txBox="1"/>
          <p:nvPr/>
        </p:nvSpPr>
        <p:spPr>
          <a:xfrm>
            <a:off x="1638080" y="1532273"/>
            <a:ext cx="77392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Analytical thinking allows BAs to understand complex business problems, find root causes, and propose practical solutions.</a:t>
            </a:r>
            <a:endParaRPr lang="en-US" b="1">
              <a:solidFill>
                <a:schemeClr val="bg1"/>
              </a:solidFill>
              <a:ea typeface="+mn-lt"/>
              <a:cs typeface="+mn-lt"/>
            </a:endParaRPr>
          </a:p>
        </p:txBody>
      </p:sp>
    </p:spTree>
    <p:extLst>
      <p:ext uri="{BB962C8B-B14F-4D97-AF65-F5344CB8AC3E}">
        <p14:creationId xmlns:p14="http://schemas.microsoft.com/office/powerpoint/2010/main" val="1763018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16C29-8378-B210-3434-FF3FACA6D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C7B40-BF33-BBCC-DB9F-400F5D4FADA8}"/>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Key Skills: Problem-Solving</a:t>
            </a:r>
            <a:endParaRPr lang="en-US"/>
          </a:p>
        </p:txBody>
      </p:sp>
      <p:sp>
        <p:nvSpPr>
          <p:cNvPr id="5" name="Slide Number Placeholder 4">
            <a:extLst>
              <a:ext uri="{FF2B5EF4-FFF2-40B4-BE49-F238E27FC236}">
                <a16:creationId xmlns:a16="http://schemas.microsoft.com/office/drawing/2014/main" id="{98013923-87EB-E444-5EC6-59EAF0BC9AEA}"/>
              </a:ext>
            </a:extLst>
          </p:cNvPr>
          <p:cNvSpPr>
            <a:spLocks noGrp="1"/>
          </p:cNvSpPr>
          <p:nvPr>
            <p:ph type="sldNum" sz="quarter" idx="11"/>
          </p:nvPr>
        </p:nvSpPr>
        <p:spPr/>
        <p:txBody>
          <a:bodyPr/>
          <a:lstStyle/>
          <a:p>
            <a:fld id="{294A09A9-5501-47C1-A89A-A340965A2BE2}" type="slidenum">
              <a:rPr lang="en-US" smtClean="0"/>
              <a:pPr/>
              <a:t>32</a:t>
            </a:fld>
            <a:endParaRPr lang="en-US" dirty="0"/>
          </a:p>
        </p:txBody>
      </p:sp>
      <p:sp>
        <p:nvSpPr>
          <p:cNvPr id="3" name="Content Placeholder 2">
            <a:extLst>
              <a:ext uri="{FF2B5EF4-FFF2-40B4-BE49-F238E27FC236}">
                <a16:creationId xmlns:a16="http://schemas.microsoft.com/office/drawing/2014/main" id="{AFEFBE29-5596-AA64-AAE9-2779638F9B52}"/>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Creative solutions to challenges</a:t>
            </a:r>
            <a:endParaRPr lang="en-US" b="1" dirty="0">
              <a:latin typeface="Segoe UI Light"/>
              <a:cs typeface="Segoe UI Light"/>
            </a:endParaRPr>
          </a:p>
          <a:p>
            <a:pPr marL="347345" indent="-347345"/>
            <a:r>
              <a:rPr lang="en-US" b="1">
                <a:ea typeface="+mn-lt"/>
                <a:cs typeface="+mn-lt"/>
              </a:rPr>
              <a:t>Balance business &amp; technical needs</a:t>
            </a:r>
            <a:endParaRPr lang="en-US" b="1"/>
          </a:p>
          <a:p>
            <a:pPr marL="347345" indent="-347345"/>
            <a:r>
              <a:rPr lang="en-US" b="1">
                <a:ea typeface="+mn-lt"/>
                <a:cs typeface="+mn-lt"/>
              </a:rPr>
              <a:t>Ensure feasibility</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1685308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F8ACE-192C-DA5A-3D53-6BF796B718D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C30CDB-72E8-3538-256E-FFF508FBEE08}"/>
              </a:ext>
            </a:extLst>
          </p:cNvPr>
          <p:cNvSpPr>
            <a:spLocks noGrp="1"/>
          </p:cNvSpPr>
          <p:nvPr>
            <p:ph type="sldNum" sz="quarter" idx="11"/>
          </p:nvPr>
        </p:nvSpPr>
        <p:spPr/>
        <p:txBody>
          <a:bodyPr/>
          <a:lstStyle/>
          <a:p>
            <a:fld id="{294A09A9-5501-47C1-A89A-A340965A2BE2}" type="slidenum">
              <a:rPr lang="en-US" smtClean="0"/>
              <a:pPr/>
              <a:t>33</a:t>
            </a:fld>
            <a:endParaRPr lang="en-US" dirty="0"/>
          </a:p>
        </p:txBody>
      </p:sp>
      <p:sp>
        <p:nvSpPr>
          <p:cNvPr id="11" name="TextBox 10">
            <a:extLst>
              <a:ext uri="{FF2B5EF4-FFF2-40B4-BE49-F238E27FC236}">
                <a16:creationId xmlns:a16="http://schemas.microsoft.com/office/drawing/2014/main" id="{6E6EC6E6-F5D6-F46D-3539-F945F51A6326}"/>
              </a:ext>
            </a:extLst>
          </p:cNvPr>
          <p:cNvSpPr txBox="1"/>
          <p:nvPr/>
        </p:nvSpPr>
        <p:spPr>
          <a:xfrm>
            <a:off x="1638080" y="1532273"/>
            <a:ext cx="77392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Problem-solving is about finding workable solutions that satisfy both business goals and technical constraints.</a:t>
            </a:r>
            <a:endParaRPr lang="en-US" b="1">
              <a:solidFill>
                <a:schemeClr val="bg1"/>
              </a:solidFill>
              <a:cs typeface="Segoe UI Light"/>
            </a:endParaRPr>
          </a:p>
        </p:txBody>
      </p:sp>
    </p:spTree>
    <p:extLst>
      <p:ext uri="{BB962C8B-B14F-4D97-AF65-F5344CB8AC3E}">
        <p14:creationId xmlns:p14="http://schemas.microsoft.com/office/powerpoint/2010/main" val="2858494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DB325-3D65-9712-ACB2-DB4188D35E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73B03-FB55-61D4-A687-083DBC20A24C}"/>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Business Analysis Methodologies</a:t>
            </a:r>
            <a:endParaRPr lang="en-US"/>
          </a:p>
        </p:txBody>
      </p:sp>
      <p:sp>
        <p:nvSpPr>
          <p:cNvPr id="5" name="Slide Number Placeholder 4">
            <a:extLst>
              <a:ext uri="{FF2B5EF4-FFF2-40B4-BE49-F238E27FC236}">
                <a16:creationId xmlns:a16="http://schemas.microsoft.com/office/drawing/2014/main" id="{DE104E44-6174-C8DD-DCAA-6B98BCAB6ABA}"/>
              </a:ext>
            </a:extLst>
          </p:cNvPr>
          <p:cNvSpPr>
            <a:spLocks noGrp="1"/>
          </p:cNvSpPr>
          <p:nvPr>
            <p:ph type="sldNum" sz="quarter" idx="11"/>
          </p:nvPr>
        </p:nvSpPr>
        <p:spPr/>
        <p:txBody>
          <a:bodyPr/>
          <a:lstStyle/>
          <a:p>
            <a:fld id="{294A09A9-5501-47C1-A89A-A340965A2BE2}" type="slidenum">
              <a:rPr lang="en-US" smtClean="0"/>
              <a:pPr/>
              <a:t>34</a:t>
            </a:fld>
            <a:endParaRPr lang="en-US" dirty="0"/>
          </a:p>
        </p:txBody>
      </p:sp>
      <p:sp>
        <p:nvSpPr>
          <p:cNvPr id="3" name="Content Placeholder 2">
            <a:extLst>
              <a:ext uri="{FF2B5EF4-FFF2-40B4-BE49-F238E27FC236}">
                <a16:creationId xmlns:a16="http://schemas.microsoft.com/office/drawing/2014/main" id="{40B26D3F-D220-BDF4-C8D2-F82DA8681EEC}"/>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Waterfall: step-by-step, linear approach</a:t>
            </a:r>
            <a:endParaRPr lang="en-US" b="1" dirty="0">
              <a:latin typeface="Segoe UI Light"/>
              <a:cs typeface="Segoe UI Light"/>
            </a:endParaRPr>
          </a:p>
          <a:p>
            <a:pPr marL="347345" indent="-347345"/>
            <a:r>
              <a:rPr lang="en-US" b="1">
                <a:ea typeface="+mn-lt"/>
                <a:cs typeface="+mn-lt"/>
              </a:rPr>
              <a:t>Agile: iterative, flexible, customer-focused</a:t>
            </a:r>
            <a:endParaRPr lang="en-US" b="1"/>
          </a:p>
          <a:p>
            <a:pPr marL="347345" indent="-347345"/>
            <a:r>
              <a:rPr lang="en-US" b="1">
                <a:ea typeface="+mn-lt"/>
                <a:cs typeface="+mn-lt"/>
              </a:rPr>
              <a:t>Choice depends on project type</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453783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ED611-468A-7E40-2DDD-57BA0DD5B4B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5618C8-4BE8-B0E6-26B3-B1F31DBC367D}"/>
              </a:ext>
            </a:extLst>
          </p:cNvPr>
          <p:cNvSpPr>
            <a:spLocks noGrp="1"/>
          </p:cNvSpPr>
          <p:nvPr>
            <p:ph type="sldNum" sz="quarter" idx="11"/>
          </p:nvPr>
        </p:nvSpPr>
        <p:spPr/>
        <p:txBody>
          <a:bodyPr/>
          <a:lstStyle/>
          <a:p>
            <a:fld id="{294A09A9-5501-47C1-A89A-A340965A2BE2}" type="slidenum">
              <a:rPr lang="en-US" smtClean="0"/>
              <a:pPr/>
              <a:t>35</a:t>
            </a:fld>
            <a:endParaRPr lang="en-US" dirty="0"/>
          </a:p>
        </p:txBody>
      </p:sp>
      <p:sp>
        <p:nvSpPr>
          <p:cNvPr id="11" name="TextBox 10">
            <a:extLst>
              <a:ext uri="{FF2B5EF4-FFF2-40B4-BE49-F238E27FC236}">
                <a16:creationId xmlns:a16="http://schemas.microsoft.com/office/drawing/2014/main" id="{C0E31864-4473-CDF4-BCCD-FDFECA8C11DB}"/>
              </a:ext>
            </a:extLst>
          </p:cNvPr>
          <p:cNvSpPr txBox="1"/>
          <p:nvPr/>
        </p:nvSpPr>
        <p:spPr>
          <a:xfrm>
            <a:off x="1638080" y="1532273"/>
            <a:ext cx="77392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Waterfall is structured and sequential, while Agile is adaptive and iterative. BAs must understand both to work in different project environments.</a:t>
            </a:r>
            <a:endParaRPr lang="en-US" b="1">
              <a:solidFill>
                <a:schemeClr val="bg1"/>
              </a:solidFill>
              <a:cs typeface="Segoe UI Light"/>
            </a:endParaRPr>
          </a:p>
        </p:txBody>
      </p:sp>
    </p:spTree>
    <p:extLst>
      <p:ext uri="{BB962C8B-B14F-4D97-AF65-F5344CB8AC3E}">
        <p14:creationId xmlns:p14="http://schemas.microsoft.com/office/powerpoint/2010/main" val="2990571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AF218-BE89-E927-6600-A1EB309AB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303FD-2EF2-0DCF-7CE6-991766B396FE}"/>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Agile Methodology in BA</a:t>
            </a:r>
            <a:endParaRPr lang="en-US"/>
          </a:p>
        </p:txBody>
      </p:sp>
      <p:sp>
        <p:nvSpPr>
          <p:cNvPr id="5" name="Slide Number Placeholder 4">
            <a:extLst>
              <a:ext uri="{FF2B5EF4-FFF2-40B4-BE49-F238E27FC236}">
                <a16:creationId xmlns:a16="http://schemas.microsoft.com/office/drawing/2014/main" id="{8993FA1E-005D-2EED-7EEB-3BF0E1F43EF6}"/>
              </a:ext>
            </a:extLst>
          </p:cNvPr>
          <p:cNvSpPr>
            <a:spLocks noGrp="1"/>
          </p:cNvSpPr>
          <p:nvPr>
            <p:ph type="sldNum" sz="quarter" idx="11"/>
          </p:nvPr>
        </p:nvSpPr>
        <p:spPr/>
        <p:txBody>
          <a:bodyPr/>
          <a:lstStyle/>
          <a:p>
            <a:fld id="{294A09A9-5501-47C1-A89A-A340965A2BE2}" type="slidenum">
              <a:rPr lang="en-US" smtClean="0"/>
              <a:pPr/>
              <a:t>36</a:t>
            </a:fld>
            <a:endParaRPr lang="en-US" dirty="0"/>
          </a:p>
        </p:txBody>
      </p:sp>
      <p:sp>
        <p:nvSpPr>
          <p:cNvPr id="3" name="Content Placeholder 2">
            <a:extLst>
              <a:ext uri="{FF2B5EF4-FFF2-40B4-BE49-F238E27FC236}">
                <a16:creationId xmlns:a16="http://schemas.microsoft.com/office/drawing/2014/main" id="{9A7A5C4D-0FCB-3846-8E8F-5868CEE221DB}"/>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Short sprints &amp; continuous feedback</a:t>
            </a:r>
            <a:endParaRPr lang="en-US" b="1" dirty="0">
              <a:latin typeface="Segoe UI Light"/>
              <a:cs typeface="Segoe UI Light"/>
            </a:endParaRPr>
          </a:p>
          <a:p>
            <a:pPr marL="347345" indent="-347345"/>
            <a:r>
              <a:rPr lang="en-US" b="1">
                <a:ea typeface="+mn-lt"/>
                <a:cs typeface="+mn-lt"/>
              </a:rPr>
              <a:t>BA works closely with product owner</a:t>
            </a:r>
            <a:endParaRPr lang="en-US" b="1"/>
          </a:p>
          <a:p>
            <a:pPr marL="347345" indent="-347345"/>
            <a:r>
              <a:rPr lang="en-US" b="1">
                <a:ea typeface="+mn-lt"/>
                <a:cs typeface="+mn-lt"/>
              </a:rPr>
              <a:t>Focus on delivering value quickly</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814914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EF96D-7F25-51F3-DF31-B66E02DAD3D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4C4A5EA-DB55-1C18-393E-F6607ABBDAEA}"/>
              </a:ext>
            </a:extLst>
          </p:cNvPr>
          <p:cNvSpPr>
            <a:spLocks noGrp="1"/>
          </p:cNvSpPr>
          <p:nvPr>
            <p:ph type="sldNum" sz="quarter" idx="11"/>
          </p:nvPr>
        </p:nvSpPr>
        <p:spPr/>
        <p:txBody>
          <a:bodyPr/>
          <a:lstStyle/>
          <a:p>
            <a:fld id="{294A09A9-5501-47C1-A89A-A340965A2BE2}" type="slidenum">
              <a:rPr lang="en-US" smtClean="0"/>
              <a:pPr/>
              <a:t>37</a:t>
            </a:fld>
            <a:endParaRPr lang="en-US" dirty="0"/>
          </a:p>
        </p:txBody>
      </p:sp>
      <p:sp>
        <p:nvSpPr>
          <p:cNvPr id="11" name="TextBox 10">
            <a:extLst>
              <a:ext uri="{FF2B5EF4-FFF2-40B4-BE49-F238E27FC236}">
                <a16:creationId xmlns:a16="http://schemas.microsoft.com/office/drawing/2014/main" id="{BC7B0BE4-7924-208C-7F5B-B1CFC3541862}"/>
              </a:ext>
            </a:extLst>
          </p:cNvPr>
          <p:cNvSpPr txBox="1"/>
          <p:nvPr/>
        </p:nvSpPr>
        <p:spPr>
          <a:xfrm>
            <a:off x="1638080" y="1532273"/>
            <a:ext cx="77392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In Agile, BAs collaborate with teams in short cycles, refining requirements continuously and ensuring customer satisfaction.</a:t>
            </a:r>
            <a:endParaRPr lang="en-US" b="1">
              <a:solidFill>
                <a:schemeClr val="bg1"/>
              </a:solidFill>
              <a:ea typeface="+mn-lt"/>
              <a:cs typeface="+mn-lt"/>
            </a:endParaRPr>
          </a:p>
        </p:txBody>
      </p:sp>
    </p:spTree>
    <p:extLst>
      <p:ext uri="{BB962C8B-B14F-4D97-AF65-F5344CB8AC3E}">
        <p14:creationId xmlns:p14="http://schemas.microsoft.com/office/powerpoint/2010/main" val="1930707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88DF-3157-21A2-75CC-891B47041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AFE90-AF7D-637B-8923-7C4BE3FA0A7D}"/>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Stakeholder Management</a:t>
            </a:r>
            <a:endParaRPr lang="en-US"/>
          </a:p>
        </p:txBody>
      </p:sp>
      <p:sp>
        <p:nvSpPr>
          <p:cNvPr id="5" name="Slide Number Placeholder 4">
            <a:extLst>
              <a:ext uri="{FF2B5EF4-FFF2-40B4-BE49-F238E27FC236}">
                <a16:creationId xmlns:a16="http://schemas.microsoft.com/office/drawing/2014/main" id="{B4EAC8AF-D990-0F12-10D6-27D9AC5FB35F}"/>
              </a:ext>
            </a:extLst>
          </p:cNvPr>
          <p:cNvSpPr>
            <a:spLocks noGrp="1"/>
          </p:cNvSpPr>
          <p:nvPr>
            <p:ph type="sldNum" sz="quarter" idx="11"/>
          </p:nvPr>
        </p:nvSpPr>
        <p:spPr/>
        <p:txBody>
          <a:bodyPr/>
          <a:lstStyle/>
          <a:p>
            <a:fld id="{294A09A9-5501-47C1-A89A-A340965A2BE2}" type="slidenum">
              <a:rPr lang="en-US" smtClean="0"/>
              <a:pPr/>
              <a:t>38</a:t>
            </a:fld>
            <a:endParaRPr lang="en-US" dirty="0"/>
          </a:p>
        </p:txBody>
      </p:sp>
      <p:sp>
        <p:nvSpPr>
          <p:cNvPr id="3" name="Content Placeholder 2">
            <a:extLst>
              <a:ext uri="{FF2B5EF4-FFF2-40B4-BE49-F238E27FC236}">
                <a16:creationId xmlns:a16="http://schemas.microsoft.com/office/drawing/2014/main" id="{C6248E17-B4E5-EFC1-18C3-E01EDDF792D3}"/>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Identify stakeholders (internal &amp; external)</a:t>
            </a:r>
            <a:endParaRPr lang="en-US" b="1" dirty="0">
              <a:latin typeface="Segoe UI Light"/>
              <a:cs typeface="Segoe UI Light"/>
            </a:endParaRPr>
          </a:p>
          <a:p>
            <a:pPr marL="347345" indent="-347345"/>
            <a:r>
              <a:rPr lang="en-US" b="1">
                <a:ea typeface="+mn-lt"/>
                <a:cs typeface="+mn-lt"/>
              </a:rPr>
              <a:t>Manage expectations</a:t>
            </a:r>
            <a:endParaRPr lang="en-US" b="1"/>
          </a:p>
          <a:p>
            <a:pPr marL="347345" indent="-347345"/>
            <a:r>
              <a:rPr lang="en-US" b="1">
                <a:ea typeface="+mn-lt"/>
                <a:cs typeface="+mn-lt"/>
              </a:rPr>
              <a:t>Build trust &amp; collaboration</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7919387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FA030-FD52-C99E-57AE-4E3CF2CE952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6681DAA-B528-F64D-40E4-DB864AABF326}"/>
              </a:ext>
            </a:extLst>
          </p:cNvPr>
          <p:cNvSpPr>
            <a:spLocks noGrp="1"/>
          </p:cNvSpPr>
          <p:nvPr>
            <p:ph type="sldNum" sz="quarter" idx="11"/>
          </p:nvPr>
        </p:nvSpPr>
        <p:spPr/>
        <p:txBody>
          <a:bodyPr/>
          <a:lstStyle/>
          <a:p>
            <a:fld id="{294A09A9-5501-47C1-A89A-A340965A2BE2}" type="slidenum">
              <a:rPr lang="en-US" smtClean="0"/>
              <a:pPr/>
              <a:t>39</a:t>
            </a:fld>
            <a:endParaRPr lang="en-US" dirty="0"/>
          </a:p>
        </p:txBody>
      </p:sp>
      <p:sp>
        <p:nvSpPr>
          <p:cNvPr id="11" name="TextBox 10">
            <a:extLst>
              <a:ext uri="{FF2B5EF4-FFF2-40B4-BE49-F238E27FC236}">
                <a16:creationId xmlns:a16="http://schemas.microsoft.com/office/drawing/2014/main" id="{9309BBF3-CE64-CD9C-4E6D-529FBF91898B}"/>
              </a:ext>
            </a:extLst>
          </p:cNvPr>
          <p:cNvSpPr txBox="1"/>
          <p:nvPr/>
        </p:nvSpPr>
        <p:spPr>
          <a:xfrm>
            <a:off x="1638080" y="1532273"/>
            <a:ext cx="77392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bg1"/>
                </a:solidFill>
                <a:ea typeface="+mn-lt"/>
                <a:cs typeface="+mn-lt"/>
              </a:rPr>
              <a:t>Stakeholder management is critical. BAs must balance different interests, keep communication open, and ensure stakeholders feel involved.</a:t>
            </a:r>
            <a:endParaRPr lang="en-US">
              <a:solidFill>
                <a:schemeClr val="bg1"/>
              </a:solidFill>
              <a:ea typeface="+mn-lt"/>
              <a:cs typeface="+mn-lt"/>
            </a:endParaRPr>
          </a:p>
        </p:txBody>
      </p:sp>
    </p:spTree>
    <p:extLst>
      <p:ext uri="{BB962C8B-B14F-4D97-AF65-F5344CB8AC3E}">
        <p14:creationId xmlns:p14="http://schemas.microsoft.com/office/powerpoint/2010/main" val="2461922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12AA0-D52F-4804-C57E-F3DA1535A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6E04F-1334-5E7A-EF59-20B44D11ADE9}"/>
              </a:ext>
            </a:extLst>
          </p:cNvPr>
          <p:cNvSpPr>
            <a:spLocks noGrp="1"/>
          </p:cNvSpPr>
          <p:nvPr>
            <p:ph type="ctrTitle"/>
          </p:nvPr>
        </p:nvSpPr>
        <p:spPr>
          <a:xfrm>
            <a:off x="2365974" y="2890955"/>
            <a:ext cx="7735824" cy="1069848"/>
          </a:xfrm>
        </p:spPr>
        <p:txBody>
          <a:bodyPr vert="horz" lIns="91440" tIns="45720" rIns="91440" bIns="45720" rtlCol="0" anchor="ctr">
            <a:noAutofit/>
          </a:bodyPr>
          <a:lstStyle/>
          <a:p>
            <a:r>
              <a:rPr lang="en-US" sz="4800" b="0">
                <a:ea typeface="+mj-lt"/>
                <a:cs typeface="+mj-lt"/>
              </a:rPr>
              <a:t>Data vs. Information</a:t>
            </a:r>
            <a:endParaRPr lang="en-US"/>
          </a:p>
        </p:txBody>
      </p:sp>
    </p:spTree>
    <p:extLst>
      <p:ext uri="{BB962C8B-B14F-4D97-AF65-F5344CB8AC3E}">
        <p14:creationId xmlns:p14="http://schemas.microsoft.com/office/powerpoint/2010/main" val="2850841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D3BA-B8B6-DA92-3938-2B33C52D4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34A46-5924-53E1-0FA8-32ED21356F0B}"/>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Introduction to Data and Information</a:t>
            </a:r>
            <a:endParaRPr lang="en-US"/>
          </a:p>
        </p:txBody>
      </p:sp>
      <p:sp>
        <p:nvSpPr>
          <p:cNvPr id="5" name="Slide Number Placeholder 4">
            <a:extLst>
              <a:ext uri="{FF2B5EF4-FFF2-40B4-BE49-F238E27FC236}">
                <a16:creationId xmlns:a16="http://schemas.microsoft.com/office/drawing/2014/main" id="{19A163BC-EC75-7578-9BF6-274259B95028}"/>
              </a:ext>
            </a:extLst>
          </p:cNvPr>
          <p:cNvSpPr>
            <a:spLocks noGrp="1"/>
          </p:cNvSpPr>
          <p:nvPr>
            <p:ph type="sldNum" sz="quarter" idx="11"/>
          </p:nvPr>
        </p:nvSpPr>
        <p:spPr/>
        <p:txBody>
          <a:bodyPr/>
          <a:lstStyle/>
          <a:p>
            <a:fld id="{294A09A9-5501-47C1-A89A-A340965A2BE2}" type="slidenum">
              <a:rPr lang="en-US" smtClean="0"/>
              <a:pPr/>
              <a:t>41</a:t>
            </a:fld>
            <a:endParaRPr lang="en-US" dirty="0"/>
          </a:p>
        </p:txBody>
      </p:sp>
      <p:sp>
        <p:nvSpPr>
          <p:cNvPr id="3" name="Content Placeholder 2">
            <a:extLst>
              <a:ext uri="{FF2B5EF4-FFF2-40B4-BE49-F238E27FC236}">
                <a16:creationId xmlns:a16="http://schemas.microsoft.com/office/drawing/2014/main" id="{612CDB62-61A0-6A2A-60EF-EBCD88CC80AD}"/>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Data = raw facts, figures, symbols</a:t>
            </a:r>
            <a:endParaRPr lang="en-US" b="1" dirty="0">
              <a:latin typeface="Segoe UI Light"/>
              <a:cs typeface="Segoe UI Light"/>
            </a:endParaRPr>
          </a:p>
          <a:p>
            <a:pPr marL="347345" indent="-347345"/>
            <a:r>
              <a:rPr lang="en-US" b="1">
                <a:ea typeface="+mn-lt"/>
                <a:cs typeface="+mn-lt"/>
              </a:rPr>
              <a:t>Information = processed, organized, meaningful data</a:t>
            </a:r>
            <a:endParaRPr lang="en-US" b="1"/>
          </a:p>
          <a:p>
            <a:pPr marL="347345" indent="-347345"/>
            <a:r>
              <a:rPr lang="en-US" b="1">
                <a:ea typeface="+mn-lt"/>
                <a:cs typeface="+mn-lt"/>
              </a:rPr>
              <a:t>Foundation of knowledge and decisions</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76156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CFAE9-EB04-034D-93A0-496B7FD6012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FAB154D-553D-58E3-8B85-39FEBBE611BB}"/>
              </a:ext>
            </a:extLst>
          </p:cNvPr>
          <p:cNvSpPr>
            <a:spLocks noGrp="1"/>
          </p:cNvSpPr>
          <p:nvPr>
            <p:ph type="sldNum" sz="quarter" idx="11"/>
          </p:nvPr>
        </p:nvSpPr>
        <p:spPr/>
        <p:txBody>
          <a:bodyPr/>
          <a:lstStyle/>
          <a:p>
            <a:fld id="{294A09A9-5501-47C1-A89A-A340965A2BE2}" type="slidenum">
              <a:rPr lang="en-US" smtClean="0"/>
              <a:pPr/>
              <a:t>42</a:t>
            </a:fld>
            <a:endParaRPr lang="en-US" dirty="0"/>
          </a:p>
        </p:txBody>
      </p:sp>
      <p:sp>
        <p:nvSpPr>
          <p:cNvPr id="11" name="TextBox 10">
            <a:extLst>
              <a:ext uri="{FF2B5EF4-FFF2-40B4-BE49-F238E27FC236}">
                <a16:creationId xmlns:a16="http://schemas.microsoft.com/office/drawing/2014/main" id="{F3C589C4-2A03-1437-5E5C-608F366C0270}"/>
              </a:ext>
            </a:extLst>
          </p:cNvPr>
          <p:cNvSpPr txBox="1"/>
          <p:nvPr/>
        </p:nvSpPr>
        <p:spPr>
          <a:xfrm>
            <a:off x="1638080" y="1532273"/>
            <a:ext cx="773928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bg1"/>
                </a:solidFill>
                <a:ea typeface="+mn-lt"/>
                <a:cs typeface="+mn-lt"/>
              </a:rPr>
              <a:t>Data is the raw material—numbers, text, or observations. Information is what we get after processing and organizing </a:t>
            </a:r>
            <a:r>
              <a:rPr lang="en-US" sz="2800" b="1" dirty="0" err="1">
                <a:solidFill>
                  <a:schemeClr val="bg1"/>
                </a:solidFill>
                <a:ea typeface="+mn-lt"/>
                <a:cs typeface="+mn-lt"/>
              </a:rPr>
              <a:t>data</a:t>
            </a:r>
            <a:r>
              <a:rPr lang="en-US" sz="2800" b="1" dirty="0">
                <a:solidFill>
                  <a:schemeClr val="bg1"/>
                </a:solidFill>
                <a:ea typeface="+mn-lt"/>
                <a:cs typeface="+mn-lt"/>
              </a:rPr>
              <a:t> so it becomes useful. Example: “100, 95, 80” is data; “Average score = 91.6” is information.</a:t>
            </a:r>
            <a:endParaRPr lang="en-US" b="1" dirty="0">
              <a:solidFill>
                <a:schemeClr val="bg1"/>
              </a:solidFill>
              <a:cs typeface="Segoe UI Light"/>
            </a:endParaRPr>
          </a:p>
        </p:txBody>
      </p:sp>
    </p:spTree>
    <p:extLst>
      <p:ext uri="{BB962C8B-B14F-4D97-AF65-F5344CB8AC3E}">
        <p14:creationId xmlns:p14="http://schemas.microsoft.com/office/powerpoint/2010/main" val="28373419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D6899-DF63-64AA-6A6B-835D8377B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674CC-BB43-F97B-E4A2-04A8A738AF87}"/>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Raw Data Characteristics</a:t>
            </a:r>
            <a:endParaRPr lang="en-US">
              <a:ea typeface="+mj-lt"/>
              <a:cs typeface="+mj-lt"/>
            </a:endParaRPr>
          </a:p>
        </p:txBody>
      </p:sp>
      <p:sp>
        <p:nvSpPr>
          <p:cNvPr id="5" name="Slide Number Placeholder 4">
            <a:extLst>
              <a:ext uri="{FF2B5EF4-FFF2-40B4-BE49-F238E27FC236}">
                <a16:creationId xmlns:a16="http://schemas.microsoft.com/office/drawing/2014/main" id="{5609964B-98B6-4635-446D-27496377F381}"/>
              </a:ext>
            </a:extLst>
          </p:cNvPr>
          <p:cNvSpPr>
            <a:spLocks noGrp="1"/>
          </p:cNvSpPr>
          <p:nvPr>
            <p:ph type="sldNum" sz="quarter" idx="11"/>
          </p:nvPr>
        </p:nvSpPr>
        <p:spPr/>
        <p:txBody>
          <a:bodyPr/>
          <a:lstStyle/>
          <a:p>
            <a:fld id="{294A09A9-5501-47C1-A89A-A340965A2BE2}" type="slidenum">
              <a:rPr lang="en-US" smtClean="0"/>
              <a:pPr/>
              <a:t>43</a:t>
            </a:fld>
            <a:endParaRPr lang="en-US" dirty="0"/>
          </a:p>
        </p:txBody>
      </p:sp>
      <p:sp>
        <p:nvSpPr>
          <p:cNvPr id="3" name="Content Placeholder 2">
            <a:extLst>
              <a:ext uri="{FF2B5EF4-FFF2-40B4-BE49-F238E27FC236}">
                <a16:creationId xmlns:a16="http://schemas.microsoft.com/office/drawing/2014/main" id="{B005C6A0-9A75-D5F7-0D18-919E0F4D6EE4}"/>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Unprocessed, unorganized</a:t>
            </a:r>
            <a:endParaRPr lang="en-US" b="1" dirty="0">
              <a:latin typeface="Segoe UI Light"/>
              <a:cs typeface="Segoe UI Light"/>
            </a:endParaRPr>
          </a:p>
          <a:p>
            <a:pPr marL="347345" indent="-347345"/>
            <a:r>
              <a:rPr lang="en-US" b="1">
                <a:ea typeface="+mn-lt"/>
                <a:cs typeface="+mn-lt"/>
              </a:rPr>
              <a:t>May be incomplete or scattered</a:t>
            </a:r>
            <a:endParaRPr lang="en-US" b="1"/>
          </a:p>
          <a:p>
            <a:pPr marL="347345" indent="-347345"/>
            <a:r>
              <a:rPr lang="en-US" b="1">
                <a:ea typeface="+mn-lt"/>
                <a:cs typeface="+mn-lt"/>
              </a:rPr>
              <a:t>Examples: exam marks, sensor readings</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013430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D79E8-60AA-4B3E-5B4A-132BE49AF78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7590DA8-4372-1348-8A51-3B8B17BC8AD7}"/>
              </a:ext>
            </a:extLst>
          </p:cNvPr>
          <p:cNvSpPr>
            <a:spLocks noGrp="1"/>
          </p:cNvSpPr>
          <p:nvPr>
            <p:ph type="sldNum" sz="quarter" idx="11"/>
          </p:nvPr>
        </p:nvSpPr>
        <p:spPr/>
        <p:txBody>
          <a:bodyPr/>
          <a:lstStyle/>
          <a:p>
            <a:fld id="{294A09A9-5501-47C1-A89A-A340965A2BE2}" type="slidenum">
              <a:rPr lang="en-US" smtClean="0"/>
              <a:pPr/>
              <a:t>44</a:t>
            </a:fld>
            <a:endParaRPr lang="en-US" dirty="0"/>
          </a:p>
        </p:txBody>
      </p:sp>
      <p:sp>
        <p:nvSpPr>
          <p:cNvPr id="11" name="TextBox 10">
            <a:extLst>
              <a:ext uri="{FF2B5EF4-FFF2-40B4-BE49-F238E27FC236}">
                <a16:creationId xmlns:a16="http://schemas.microsoft.com/office/drawing/2014/main" id="{5CA822AC-8B96-49C8-709C-C807B9C7113B}"/>
              </a:ext>
            </a:extLst>
          </p:cNvPr>
          <p:cNvSpPr txBox="1"/>
          <p:nvPr/>
        </p:nvSpPr>
        <p:spPr>
          <a:xfrm>
            <a:off x="1638080" y="1532273"/>
            <a:ext cx="773928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Raw data is like a collection of facts without context. It doesn’t tell us much until we process it. For instance, a list of temperatures is just data until we analyze trends.</a:t>
            </a:r>
            <a:endParaRPr lang="en-US" b="1">
              <a:solidFill>
                <a:schemeClr val="bg1"/>
              </a:solidFill>
              <a:ea typeface="+mn-lt"/>
              <a:cs typeface="+mn-lt"/>
            </a:endParaRPr>
          </a:p>
        </p:txBody>
      </p:sp>
    </p:spTree>
    <p:extLst>
      <p:ext uri="{BB962C8B-B14F-4D97-AF65-F5344CB8AC3E}">
        <p14:creationId xmlns:p14="http://schemas.microsoft.com/office/powerpoint/2010/main" val="2159739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EAC97-EA35-EB29-2C10-A7671C3E4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416DF-CB8F-727E-1DF5-92EC9B8AE417}"/>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Processed Information Characteristics</a:t>
            </a:r>
            <a:endParaRPr lang="en-US"/>
          </a:p>
        </p:txBody>
      </p:sp>
      <p:sp>
        <p:nvSpPr>
          <p:cNvPr id="5" name="Slide Number Placeholder 4">
            <a:extLst>
              <a:ext uri="{FF2B5EF4-FFF2-40B4-BE49-F238E27FC236}">
                <a16:creationId xmlns:a16="http://schemas.microsoft.com/office/drawing/2014/main" id="{D0FDBE25-FFE2-68A2-5518-DFE5690312CB}"/>
              </a:ext>
            </a:extLst>
          </p:cNvPr>
          <p:cNvSpPr>
            <a:spLocks noGrp="1"/>
          </p:cNvSpPr>
          <p:nvPr>
            <p:ph type="sldNum" sz="quarter" idx="11"/>
          </p:nvPr>
        </p:nvSpPr>
        <p:spPr/>
        <p:txBody>
          <a:bodyPr/>
          <a:lstStyle/>
          <a:p>
            <a:fld id="{294A09A9-5501-47C1-A89A-A340965A2BE2}" type="slidenum">
              <a:rPr lang="en-US" smtClean="0"/>
              <a:pPr/>
              <a:t>45</a:t>
            </a:fld>
            <a:endParaRPr lang="en-US" dirty="0"/>
          </a:p>
        </p:txBody>
      </p:sp>
      <p:sp>
        <p:nvSpPr>
          <p:cNvPr id="3" name="Content Placeholder 2">
            <a:extLst>
              <a:ext uri="{FF2B5EF4-FFF2-40B4-BE49-F238E27FC236}">
                <a16:creationId xmlns:a16="http://schemas.microsoft.com/office/drawing/2014/main" id="{17D530CB-3E9E-6A1F-02E3-A2A45F25C68B}"/>
              </a:ext>
            </a:extLst>
          </p:cNvPr>
          <p:cNvSpPr>
            <a:spLocks noGrp="1"/>
          </p:cNvSpPr>
          <p:nvPr>
            <p:ph idx="1"/>
          </p:nvPr>
        </p:nvSpPr>
        <p:spPr>
          <a:xfrm>
            <a:off x="1006421" y="1458104"/>
            <a:ext cx="7497644" cy="3028697"/>
          </a:xfrm>
        </p:spPr>
        <p:txBody>
          <a:bodyPr vert="horz" lIns="91440" tIns="45720" rIns="91440" bIns="45720" rtlCol="0" anchor="t">
            <a:noAutofit/>
          </a:bodyPr>
          <a:lstStyle/>
          <a:p>
            <a:pPr marL="347345" indent="-347345"/>
            <a:r>
              <a:rPr lang="en-US" b="1">
                <a:ea typeface="+mn-lt"/>
                <a:cs typeface="+mn-lt"/>
              </a:rPr>
              <a:t>Organized and structured</a:t>
            </a:r>
            <a:endParaRPr lang="en-US" b="1" dirty="0">
              <a:latin typeface="Segoe UI Light"/>
              <a:cs typeface="Segoe UI Light"/>
            </a:endParaRPr>
          </a:p>
          <a:p>
            <a:pPr marL="347345" indent="-347345"/>
            <a:r>
              <a:rPr lang="en-US" b="1">
                <a:ea typeface="+mn-lt"/>
                <a:cs typeface="+mn-lt"/>
              </a:rPr>
              <a:t>Provides meaning and context</a:t>
            </a:r>
            <a:endParaRPr lang="en-US" b="1"/>
          </a:p>
          <a:p>
            <a:pPr marL="347345" indent="-347345"/>
            <a:r>
              <a:rPr lang="en-US" b="1">
                <a:ea typeface="+mn-lt"/>
                <a:cs typeface="+mn-lt"/>
              </a:rPr>
              <a:t>Examples: reports, summaries, charts</a:t>
            </a:r>
            <a:endParaRPr lang="en-US" b="1"/>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21450511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FF7F7-6974-D833-98DC-102FD8AB4D8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2C1B571-1932-F1FD-C24D-3847DB1EB847}"/>
              </a:ext>
            </a:extLst>
          </p:cNvPr>
          <p:cNvSpPr>
            <a:spLocks noGrp="1"/>
          </p:cNvSpPr>
          <p:nvPr>
            <p:ph type="sldNum" sz="quarter" idx="11"/>
          </p:nvPr>
        </p:nvSpPr>
        <p:spPr/>
        <p:txBody>
          <a:bodyPr/>
          <a:lstStyle/>
          <a:p>
            <a:fld id="{294A09A9-5501-47C1-A89A-A340965A2BE2}" type="slidenum">
              <a:rPr lang="en-US" smtClean="0"/>
              <a:pPr/>
              <a:t>46</a:t>
            </a:fld>
            <a:endParaRPr lang="en-US" dirty="0"/>
          </a:p>
        </p:txBody>
      </p:sp>
      <p:sp>
        <p:nvSpPr>
          <p:cNvPr id="11" name="TextBox 10">
            <a:extLst>
              <a:ext uri="{FF2B5EF4-FFF2-40B4-BE49-F238E27FC236}">
                <a16:creationId xmlns:a16="http://schemas.microsoft.com/office/drawing/2014/main" id="{A0EB8102-62BB-6426-40E4-FFE6C65047B6}"/>
              </a:ext>
            </a:extLst>
          </p:cNvPr>
          <p:cNvSpPr txBox="1"/>
          <p:nvPr/>
        </p:nvSpPr>
        <p:spPr>
          <a:xfrm>
            <a:off x="1638080" y="1532273"/>
            <a:ext cx="77392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Information is data that has been processed into a useful form. A sales report showing monthly totals is information derived from raw transaction data.</a:t>
            </a:r>
            <a:endParaRPr lang="en-US" b="1">
              <a:solidFill>
                <a:schemeClr val="bg1"/>
              </a:solidFill>
              <a:cs typeface="Segoe UI Light"/>
            </a:endParaRPr>
          </a:p>
        </p:txBody>
      </p:sp>
    </p:spTree>
    <p:extLst>
      <p:ext uri="{BB962C8B-B14F-4D97-AF65-F5344CB8AC3E}">
        <p14:creationId xmlns:p14="http://schemas.microsoft.com/office/powerpoint/2010/main" val="26648893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BF8F7-874C-6C32-ED6D-6FBAB32BD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63134-4CF1-260F-907F-71D6CAE9042A}"/>
              </a:ext>
            </a:extLst>
          </p:cNvPr>
          <p:cNvSpPr>
            <a:spLocks noGrp="1"/>
          </p:cNvSpPr>
          <p:nvPr>
            <p:ph type="title"/>
          </p:nvPr>
        </p:nvSpPr>
        <p:spPr>
          <a:xfrm>
            <a:off x="1006420" y="389418"/>
            <a:ext cx="10976137" cy="1069848"/>
          </a:xfrm>
        </p:spPr>
        <p:txBody>
          <a:bodyPr>
            <a:normAutofit fontScale="90000"/>
          </a:bodyPr>
          <a:lstStyle/>
          <a:p>
            <a:r>
              <a:rPr lang="en-US" sz="4800" b="0">
                <a:ln w="28575">
                  <a:noFill/>
                  <a:prstDash val="solid"/>
                </a:ln>
                <a:ea typeface="+mj-lt"/>
                <a:cs typeface="+mj-lt"/>
              </a:rPr>
              <a:t>Distinguishing Data vs. Information</a:t>
            </a:r>
            <a:endParaRPr lang="en-US"/>
          </a:p>
        </p:txBody>
      </p:sp>
      <p:sp>
        <p:nvSpPr>
          <p:cNvPr id="5" name="Slide Number Placeholder 4">
            <a:extLst>
              <a:ext uri="{FF2B5EF4-FFF2-40B4-BE49-F238E27FC236}">
                <a16:creationId xmlns:a16="http://schemas.microsoft.com/office/drawing/2014/main" id="{76B953BA-4562-00AB-CCC1-1184ECD028E8}"/>
              </a:ext>
            </a:extLst>
          </p:cNvPr>
          <p:cNvSpPr>
            <a:spLocks noGrp="1"/>
          </p:cNvSpPr>
          <p:nvPr>
            <p:ph type="sldNum" sz="quarter" idx="11"/>
          </p:nvPr>
        </p:nvSpPr>
        <p:spPr/>
        <p:txBody>
          <a:bodyPr/>
          <a:lstStyle/>
          <a:p>
            <a:fld id="{294A09A9-5501-47C1-A89A-A340965A2BE2}" type="slidenum">
              <a:rPr lang="en-US" smtClean="0"/>
              <a:pPr/>
              <a:t>47</a:t>
            </a:fld>
            <a:endParaRPr lang="en-US" dirty="0"/>
          </a:p>
        </p:txBody>
      </p:sp>
      <p:sp>
        <p:nvSpPr>
          <p:cNvPr id="3" name="Content Placeholder 2">
            <a:extLst>
              <a:ext uri="{FF2B5EF4-FFF2-40B4-BE49-F238E27FC236}">
                <a16:creationId xmlns:a16="http://schemas.microsoft.com/office/drawing/2014/main" id="{45826C3D-40FE-5C55-CA39-F536E17085B3}"/>
              </a:ext>
            </a:extLst>
          </p:cNvPr>
          <p:cNvSpPr>
            <a:spLocks noGrp="1"/>
          </p:cNvSpPr>
          <p:nvPr>
            <p:ph idx="1"/>
          </p:nvPr>
        </p:nvSpPr>
        <p:spPr>
          <a:xfrm>
            <a:off x="1006421" y="1458104"/>
            <a:ext cx="9174044" cy="1969154"/>
          </a:xfrm>
        </p:spPr>
        <p:txBody>
          <a:bodyPr vert="horz" lIns="91440" tIns="45720" rIns="91440" bIns="45720" rtlCol="0" anchor="t">
            <a:noAutofit/>
          </a:bodyPr>
          <a:lstStyle/>
          <a:p>
            <a:pPr marL="347345" indent="-347345"/>
            <a:r>
              <a:rPr lang="en-US" b="1">
                <a:ea typeface="+mn-lt"/>
                <a:cs typeface="+mn-lt"/>
              </a:rPr>
              <a:t>Data: input, raw facts</a:t>
            </a:r>
            <a:endParaRPr lang="en-US" b="1" dirty="0">
              <a:latin typeface="Segoe UI Light"/>
              <a:cs typeface="Segoe UI Light"/>
            </a:endParaRPr>
          </a:p>
          <a:p>
            <a:pPr marL="347345" indent="-347345"/>
            <a:r>
              <a:rPr lang="en-US" b="1">
                <a:ea typeface="+mn-lt"/>
                <a:cs typeface="+mn-lt"/>
              </a:rPr>
              <a:t>Information: output, meaningful insights</a:t>
            </a:r>
            <a:endParaRPr lang="en-US" b="1"/>
          </a:p>
          <a:p>
            <a:pPr marL="347345" indent="-347345"/>
            <a:r>
              <a:rPr lang="en-US" b="1">
                <a:ea typeface="+mn-lt"/>
                <a:cs typeface="+mn-lt"/>
              </a:rPr>
              <a:t>Example: “500 units sold” → “Sales increased by 10%”</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C738BE3A-EC03-C648-8642-43D42275546D}"/>
              </a:ext>
            </a:extLst>
          </p:cNvPr>
          <p:cNvSpPr txBox="1"/>
          <p:nvPr/>
        </p:nvSpPr>
        <p:spPr>
          <a:xfrm>
            <a:off x="1263636" y="4114411"/>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is the input, while information is the output. Businesses collect data but rely on information to make decisions.</a:t>
            </a:r>
            <a:endParaRPr lang="en-US" sz="2800" b="1">
              <a:solidFill>
                <a:schemeClr val="bg1"/>
              </a:solidFill>
              <a:cs typeface="Segoe UI Light"/>
            </a:endParaRPr>
          </a:p>
        </p:txBody>
      </p:sp>
    </p:spTree>
    <p:extLst>
      <p:ext uri="{BB962C8B-B14F-4D97-AF65-F5344CB8AC3E}">
        <p14:creationId xmlns:p14="http://schemas.microsoft.com/office/powerpoint/2010/main" val="9137372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B1408-6303-7DC5-9225-F00747B9A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81E8E-9B32-B928-FA5D-E8EECF8E2F32}"/>
              </a:ext>
            </a:extLst>
          </p:cNvPr>
          <p:cNvSpPr>
            <a:spLocks noGrp="1"/>
          </p:cNvSpPr>
          <p:nvPr>
            <p:ph type="title"/>
          </p:nvPr>
        </p:nvSpPr>
        <p:spPr>
          <a:xfrm>
            <a:off x="1006420" y="389418"/>
            <a:ext cx="10976137" cy="1069848"/>
          </a:xfrm>
        </p:spPr>
        <p:txBody>
          <a:bodyPr>
            <a:normAutofit/>
          </a:bodyPr>
          <a:lstStyle/>
          <a:p>
            <a:r>
              <a:rPr lang="en-US" sz="4800" b="0">
                <a:ln w="28575">
                  <a:noFill/>
                  <a:prstDash val="solid"/>
                </a:ln>
                <a:ea typeface="+mj-lt"/>
                <a:cs typeface="+mj-lt"/>
              </a:rPr>
              <a:t>Transformation Process</a:t>
            </a:r>
            <a:endParaRPr lang="en-US"/>
          </a:p>
        </p:txBody>
      </p:sp>
      <p:sp>
        <p:nvSpPr>
          <p:cNvPr id="5" name="Slide Number Placeholder 4">
            <a:extLst>
              <a:ext uri="{FF2B5EF4-FFF2-40B4-BE49-F238E27FC236}">
                <a16:creationId xmlns:a16="http://schemas.microsoft.com/office/drawing/2014/main" id="{0AFBED01-64A1-B9CA-D1BF-F57722FEBA28}"/>
              </a:ext>
            </a:extLst>
          </p:cNvPr>
          <p:cNvSpPr>
            <a:spLocks noGrp="1"/>
          </p:cNvSpPr>
          <p:nvPr>
            <p:ph type="sldNum" sz="quarter" idx="11"/>
          </p:nvPr>
        </p:nvSpPr>
        <p:spPr/>
        <p:txBody>
          <a:bodyPr/>
          <a:lstStyle/>
          <a:p>
            <a:fld id="{294A09A9-5501-47C1-A89A-A340965A2BE2}" type="slidenum">
              <a:rPr lang="en-US" smtClean="0"/>
              <a:pPr/>
              <a:t>48</a:t>
            </a:fld>
            <a:endParaRPr lang="en-US" dirty="0"/>
          </a:p>
        </p:txBody>
      </p:sp>
      <p:sp>
        <p:nvSpPr>
          <p:cNvPr id="3" name="Content Placeholder 2">
            <a:extLst>
              <a:ext uri="{FF2B5EF4-FFF2-40B4-BE49-F238E27FC236}">
                <a16:creationId xmlns:a16="http://schemas.microsoft.com/office/drawing/2014/main" id="{5CED386D-32C6-43F0-32DF-79AACAE27158}"/>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Data → Information → Knowledge</a:t>
            </a:r>
            <a:endParaRPr lang="en-US" b="1" dirty="0">
              <a:latin typeface="Segoe UI Light"/>
              <a:cs typeface="Segoe UI Light"/>
            </a:endParaRPr>
          </a:p>
          <a:p>
            <a:pPr marL="347345" indent="-347345"/>
            <a:r>
              <a:rPr lang="en-US" b="1">
                <a:ea typeface="+mn-lt"/>
                <a:cs typeface="+mn-lt"/>
              </a:rPr>
              <a:t>Processing adds meaning</a:t>
            </a:r>
            <a:endParaRPr lang="en-US" b="1"/>
          </a:p>
          <a:p>
            <a:pPr marL="347345" indent="-347345"/>
            <a:r>
              <a:rPr lang="en-US" b="1">
                <a:ea typeface="+mn-lt"/>
                <a:cs typeface="+mn-lt"/>
              </a:rPr>
              <a:t>Knowledge = applied information</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9F57948A-A63E-DFAB-1BDA-D1E78FF470EA}"/>
              </a:ext>
            </a:extLst>
          </p:cNvPr>
          <p:cNvSpPr txBox="1"/>
          <p:nvPr/>
        </p:nvSpPr>
        <p:spPr>
          <a:xfrm>
            <a:off x="849979" y="3838640"/>
            <a:ext cx="8088621"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becomes information when processed. Information becomes knowledge when applied to solve problems or make decisions. Example: Data = sales numbers; Information = sales trend; Knowledge = strategy to increase sales.</a:t>
            </a:r>
            <a:endParaRPr lang="en-US" b="1">
              <a:solidFill>
                <a:schemeClr val="bg1"/>
              </a:solidFill>
              <a:cs typeface="Segoe UI Light"/>
            </a:endParaRPr>
          </a:p>
        </p:txBody>
      </p:sp>
    </p:spTree>
    <p:extLst>
      <p:ext uri="{BB962C8B-B14F-4D97-AF65-F5344CB8AC3E}">
        <p14:creationId xmlns:p14="http://schemas.microsoft.com/office/powerpoint/2010/main" val="23153764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960AD-2523-B343-6A45-20AEB92AA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C6416-E953-2153-C936-43842D8F3D0A}"/>
              </a:ext>
            </a:extLst>
          </p:cNvPr>
          <p:cNvSpPr>
            <a:spLocks noGrp="1"/>
          </p:cNvSpPr>
          <p:nvPr>
            <p:ph type="title"/>
          </p:nvPr>
        </p:nvSpPr>
        <p:spPr>
          <a:xfrm>
            <a:off x="1006420" y="389418"/>
            <a:ext cx="10976137" cy="1069848"/>
          </a:xfrm>
        </p:spPr>
        <p:txBody>
          <a:bodyPr>
            <a:normAutofit/>
          </a:bodyPr>
          <a:lstStyle/>
          <a:p>
            <a:r>
              <a:rPr lang="en-US"/>
              <a:t>Data to Information Example</a:t>
            </a:r>
          </a:p>
          <a:p>
            <a:endParaRPr lang="en-US" sz="4800" b="0" dirty="0">
              <a:ln w="28575">
                <a:noFill/>
                <a:prstDash val="solid"/>
              </a:ln>
            </a:endParaRPr>
          </a:p>
        </p:txBody>
      </p:sp>
      <p:sp>
        <p:nvSpPr>
          <p:cNvPr id="5" name="Slide Number Placeholder 4">
            <a:extLst>
              <a:ext uri="{FF2B5EF4-FFF2-40B4-BE49-F238E27FC236}">
                <a16:creationId xmlns:a16="http://schemas.microsoft.com/office/drawing/2014/main" id="{202A3A77-617A-D4C6-5C2C-68D18150BBB6}"/>
              </a:ext>
            </a:extLst>
          </p:cNvPr>
          <p:cNvSpPr>
            <a:spLocks noGrp="1"/>
          </p:cNvSpPr>
          <p:nvPr>
            <p:ph type="sldNum" sz="quarter" idx="11"/>
          </p:nvPr>
        </p:nvSpPr>
        <p:spPr/>
        <p:txBody>
          <a:bodyPr/>
          <a:lstStyle/>
          <a:p>
            <a:fld id="{294A09A9-5501-47C1-A89A-A340965A2BE2}" type="slidenum">
              <a:rPr lang="en-US" smtClean="0"/>
              <a:pPr/>
              <a:t>49</a:t>
            </a:fld>
            <a:endParaRPr lang="en-US" dirty="0"/>
          </a:p>
        </p:txBody>
      </p:sp>
      <p:sp>
        <p:nvSpPr>
          <p:cNvPr id="3" name="Content Placeholder 2">
            <a:extLst>
              <a:ext uri="{FF2B5EF4-FFF2-40B4-BE49-F238E27FC236}">
                <a16:creationId xmlns:a16="http://schemas.microsoft.com/office/drawing/2014/main" id="{8CA7A06F-0FDC-7183-9264-42A6B9BB1E9B}"/>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Raw data: “Marks = 45, 60, 75”</a:t>
            </a:r>
            <a:endParaRPr lang="en-US" b="1" dirty="0">
              <a:latin typeface="Segoe UI Light"/>
              <a:cs typeface="Segoe UI Light"/>
            </a:endParaRPr>
          </a:p>
          <a:p>
            <a:pPr marL="347345" indent="-347345"/>
            <a:r>
              <a:rPr lang="en-US" b="1">
                <a:ea typeface="+mn-lt"/>
                <a:cs typeface="+mn-lt"/>
              </a:rPr>
              <a:t>Information: “Average = 60, Pass rate = 100%”</a:t>
            </a:r>
            <a:endParaRPr lang="en-US" b="1"/>
          </a:p>
          <a:p>
            <a:pPr marL="347345" indent="-347345"/>
            <a:r>
              <a:rPr lang="en-US" b="1">
                <a:ea typeface="+mn-lt"/>
                <a:cs typeface="+mn-lt"/>
              </a:rPr>
              <a:t>Knowledge: “Class performance is satisfactory”</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802B3851-8289-FC09-D4D7-E10C2D38FFFB}"/>
              </a:ext>
            </a:extLst>
          </p:cNvPr>
          <p:cNvSpPr txBox="1"/>
          <p:nvPr/>
        </p:nvSpPr>
        <p:spPr>
          <a:xfrm>
            <a:off x="1009636" y="4201497"/>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This shows how raw marks (data) are processed into averages (information), which then helps teachers understand performance (knowledge).</a:t>
            </a:r>
            <a:endParaRPr lang="en-US" b="1">
              <a:solidFill>
                <a:schemeClr val="bg1"/>
              </a:solidFill>
              <a:cs typeface="Segoe UI Light"/>
            </a:endParaRPr>
          </a:p>
        </p:txBody>
      </p:sp>
    </p:spTree>
    <p:extLst>
      <p:ext uri="{BB962C8B-B14F-4D97-AF65-F5344CB8AC3E}">
        <p14:creationId xmlns:p14="http://schemas.microsoft.com/office/powerpoint/2010/main" val="2337592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AC3C-7D79-6D70-1B36-38DE85B53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58F69-8FC8-2104-4E12-5CA283CCE745}"/>
              </a:ext>
            </a:extLst>
          </p:cNvPr>
          <p:cNvSpPr>
            <a:spLocks noGrp="1"/>
          </p:cNvSpPr>
          <p:nvPr>
            <p:ph type="title"/>
          </p:nvPr>
        </p:nvSpPr>
        <p:spPr>
          <a:xfrm>
            <a:off x="1006420" y="389418"/>
            <a:ext cx="10976137" cy="1069848"/>
          </a:xfrm>
        </p:spPr>
        <p:txBody>
          <a:bodyPr>
            <a:normAutofit fontScale="90000"/>
          </a:bodyPr>
          <a:lstStyle/>
          <a:p>
            <a:r>
              <a:rPr lang="en-US" b="0">
                <a:ea typeface="+mj-lt"/>
                <a:cs typeface="+mj-lt"/>
              </a:rPr>
              <a:t>Value of Information in Decision Making</a:t>
            </a:r>
            <a:endParaRPr lang="en-US"/>
          </a:p>
        </p:txBody>
      </p:sp>
      <p:sp>
        <p:nvSpPr>
          <p:cNvPr id="5" name="Slide Number Placeholder 4">
            <a:extLst>
              <a:ext uri="{FF2B5EF4-FFF2-40B4-BE49-F238E27FC236}">
                <a16:creationId xmlns:a16="http://schemas.microsoft.com/office/drawing/2014/main" id="{8575761A-31A4-4CE9-8B52-69737164A5BE}"/>
              </a:ext>
            </a:extLst>
          </p:cNvPr>
          <p:cNvSpPr>
            <a:spLocks noGrp="1"/>
          </p:cNvSpPr>
          <p:nvPr>
            <p:ph type="sldNum" sz="quarter" idx="11"/>
          </p:nvPr>
        </p:nvSpPr>
        <p:spPr/>
        <p:txBody>
          <a:bodyPr/>
          <a:lstStyle/>
          <a:p>
            <a:fld id="{294A09A9-5501-47C1-A89A-A340965A2BE2}" type="slidenum">
              <a:rPr lang="en-US" smtClean="0"/>
              <a:pPr/>
              <a:t>50</a:t>
            </a:fld>
            <a:endParaRPr lang="en-US" dirty="0"/>
          </a:p>
        </p:txBody>
      </p:sp>
      <p:sp>
        <p:nvSpPr>
          <p:cNvPr id="3" name="Content Placeholder 2">
            <a:extLst>
              <a:ext uri="{FF2B5EF4-FFF2-40B4-BE49-F238E27FC236}">
                <a16:creationId xmlns:a16="http://schemas.microsoft.com/office/drawing/2014/main" id="{E2E48F4E-C0E5-D64A-DC24-39B751971352}"/>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Reduces uncertainty</a:t>
            </a:r>
            <a:endParaRPr lang="en-US" b="1" dirty="0">
              <a:latin typeface="Segoe UI Light"/>
              <a:cs typeface="Segoe UI Light"/>
            </a:endParaRPr>
          </a:p>
          <a:p>
            <a:pPr marL="347345" indent="-347345"/>
            <a:r>
              <a:rPr lang="en-US" b="1">
                <a:ea typeface="+mn-lt"/>
                <a:cs typeface="+mn-lt"/>
              </a:rPr>
              <a:t>Supports planning and strategy</a:t>
            </a:r>
            <a:endParaRPr lang="en-US" b="1"/>
          </a:p>
          <a:p>
            <a:pPr marL="347345" indent="-347345"/>
            <a:r>
              <a:rPr lang="en-US" b="1">
                <a:ea typeface="+mn-lt"/>
                <a:cs typeface="+mn-lt"/>
              </a:rPr>
              <a:t>Improves efficiency and accuracy</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70BDAFA0-5EFE-E30A-1F1C-9D6FC3AFD8EC}"/>
              </a:ext>
            </a:extLst>
          </p:cNvPr>
          <p:cNvSpPr txBox="1"/>
          <p:nvPr/>
        </p:nvSpPr>
        <p:spPr>
          <a:xfrm>
            <a:off x="1009636" y="4201497"/>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Information helps managers make better decisions. For example, analyzing customer feedback (information) guides product improvements.</a:t>
            </a:r>
            <a:endParaRPr lang="en-US" b="1">
              <a:solidFill>
                <a:schemeClr val="bg1"/>
              </a:solidFill>
              <a:cs typeface="Segoe UI Light"/>
            </a:endParaRPr>
          </a:p>
        </p:txBody>
      </p:sp>
    </p:spTree>
    <p:extLst>
      <p:ext uri="{BB962C8B-B14F-4D97-AF65-F5344CB8AC3E}">
        <p14:creationId xmlns:p14="http://schemas.microsoft.com/office/powerpoint/2010/main" val="16528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5AA2D-B5F3-67C9-642E-55D0BA77D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B0EF0-87F8-87B2-DAD5-F821448CAA91}"/>
              </a:ext>
            </a:extLst>
          </p:cNvPr>
          <p:cNvSpPr>
            <a:spLocks noGrp="1"/>
          </p:cNvSpPr>
          <p:nvPr>
            <p:ph type="title"/>
          </p:nvPr>
        </p:nvSpPr>
        <p:spPr>
          <a:xfrm>
            <a:off x="1006420" y="389418"/>
            <a:ext cx="10976137" cy="1069848"/>
          </a:xfrm>
        </p:spPr>
        <p:txBody>
          <a:bodyPr>
            <a:normAutofit/>
          </a:bodyPr>
          <a:lstStyle/>
          <a:p>
            <a:r>
              <a:rPr lang="en-US" b="0">
                <a:ea typeface="+mj-lt"/>
                <a:cs typeface="+mj-lt"/>
              </a:rPr>
              <a:t>Business Example</a:t>
            </a:r>
            <a:endParaRPr lang="en-US"/>
          </a:p>
        </p:txBody>
      </p:sp>
      <p:sp>
        <p:nvSpPr>
          <p:cNvPr id="5" name="Slide Number Placeholder 4">
            <a:extLst>
              <a:ext uri="{FF2B5EF4-FFF2-40B4-BE49-F238E27FC236}">
                <a16:creationId xmlns:a16="http://schemas.microsoft.com/office/drawing/2014/main" id="{1AAF7976-31C5-CDC8-44C1-60CCCFF62035}"/>
              </a:ext>
            </a:extLst>
          </p:cNvPr>
          <p:cNvSpPr>
            <a:spLocks noGrp="1"/>
          </p:cNvSpPr>
          <p:nvPr>
            <p:ph type="sldNum" sz="quarter" idx="11"/>
          </p:nvPr>
        </p:nvSpPr>
        <p:spPr/>
        <p:txBody>
          <a:bodyPr/>
          <a:lstStyle/>
          <a:p>
            <a:fld id="{294A09A9-5501-47C1-A89A-A340965A2BE2}" type="slidenum">
              <a:rPr lang="en-US" smtClean="0"/>
              <a:pPr/>
              <a:t>51</a:t>
            </a:fld>
            <a:endParaRPr lang="en-US" dirty="0"/>
          </a:p>
        </p:txBody>
      </p:sp>
      <p:sp>
        <p:nvSpPr>
          <p:cNvPr id="3" name="Content Placeholder 2">
            <a:extLst>
              <a:ext uri="{FF2B5EF4-FFF2-40B4-BE49-F238E27FC236}">
                <a16:creationId xmlns:a16="http://schemas.microsoft.com/office/drawing/2014/main" id="{52D55D68-4878-663E-876C-19F9D312AFFE}"/>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Data: customer purchase records</a:t>
            </a:r>
            <a:endParaRPr lang="en-US" b="1" dirty="0">
              <a:latin typeface="Segoe UI Light"/>
              <a:cs typeface="Segoe UI Light"/>
            </a:endParaRPr>
          </a:p>
          <a:p>
            <a:pPr marL="347345" indent="-347345"/>
            <a:r>
              <a:rPr lang="en-US" b="1">
                <a:ea typeface="+mn-lt"/>
                <a:cs typeface="+mn-lt"/>
              </a:rPr>
              <a:t>Information: “Most sales from 18–25 age group”</a:t>
            </a:r>
            <a:endParaRPr lang="en-US" b="1"/>
          </a:p>
          <a:p>
            <a:pPr marL="347345" indent="-347345"/>
            <a:r>
              <a:rPr lang="en-US" b="1">
                <a:ea typeface="+mn-lt"/>
                <a:cs typeface="+mn-lt"/>
              </a:rPr>
              <a:t>Knowledge: “Target marketing to young adults”</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32031BF3-3AED-38B8-E6A1-8D72F14970B3}"/>
              </a:ext>
            </a:extLst>
          </p:cNvPr>
          <p:cNvSpPr txBox="1"/>
          <p:nvPr/>
        </p:nvSpPr>
        <p:spPr>
          <a:xfrm>
            <a:off x="1009636" y="4201497"/>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Businesses use data to generate insights. Information about customer demographics leads to knowledge that shapes marketing strategies.</a:t>
            </a:r>
            <a:endParaRPr lang="en-US" b="1">
              <a:solidFill>
                <a:schemeClr val="bg1"/>
              </a:solidFill>
              <a:cs typeface="Segoe UI Light"/>
            </a:endParaRPr>
          </a:p>
        </p:txBody>
      </p:sp>
    </p:spTree>
    <p:extLst>
      <p:ext uri="{BB962C8B-B14F-4D97-AF65-F5344CB8AC3E}">
        <p14:creationId xmlns:p14="http://schemas.microsoft.com/office/powerpoint/2010/main" val="2143962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CFA3A-ADA1-A3FD-F3F9-BB01D6FC6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E6AF2-E3CF-CCBC-09ED-988953A83916}"/>
              </a:ext>
            </a:extLst>
          </p:cNvPr>
          <p:cNvSpPr>
            <a:spLocks noGrp="1"/>
          </p:cNvSpPr>
          <p:nvPr>
            <p:ph type="ctrTitle"/>
          </p:nvPr>
        </p:nvSpPr>
        <p:spPr>
          <a:xfrm>
            <a:off x="2228088" y="2578898"/>
            <a:ext cx="7735824" cy="1069848"/>
          </a:xfrm>
        </p:spPr>
        <p:txBody>
          <a:bodyPr vert="horz" lIns="91440" tIns="45720" rIns="91440" bIns="45720" rtlCol="0" anchor="ctr">
            <a:noAutofit/>
          </a:bodyPr>
          <a:lstStyle/>
          <a:p>
            <a:r>
              <a:rPr lang="en-US" sz="4800" b="0">
                <a:ea typeface="+mj-lt"/>
                <a:cs typeface="+mj-lt"/>
              </a:rPr>
              <a:t>Overview of Data‑Driven Decision Making</a:t>
            </a:r>
            <a:endParaRPr lang="en-US"/>
          </a:p>
        </p:txBody>
      </p:sp>
    </p:spTree>
    <p:extLst>
      <p:ext uri="{BB962C8B-B14F-4D97-AF65-F5344CB8AC3E}">
        <p14:creationId xmlns:p14="http://schemas.microsoft.com/office/powerpoint/2010/main" val="5859023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11DF0-CC82-CB36-76B9-F4A27A55C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3192D-EAA1-1859-3013-AAE0954E6E92}"/>
              </a:ext>
            </a:extLst>
          </p:cNvPr>
          <p:cNvSpPr>
            <a:spLocks noGrp="1"/>
          </p:cNvSpPr>
          <p:nvPr>
            <p:ph type="title"/>
          </p:nvPr>
        </p:nvSpPr>
        <p:spPr>
          <a:xfrm>
            <a:off x="1006420" y="389418"/>
            <a:ext cx="10976137" cy="1069848"/>
          </a:xfrm>
        </p:spPr>
        <p:txBody>
          <a:bodyPr>
            <a:normAutofit fontScale="90000"/>
          </a:bodyPr>
          <a:lstStyle/>
          <a:p>
            <a:r>
              <a:rPr lang="en-US" b="0">
                <a:ea typeface="+mj-lt"/>
                <a:cs typeface="+mj-lt"/>
              </a:rPr>
              <a:t>Introduction to Data‑Driven Decision Making</a:t>
            </a:r>
            <a:endParaRPr lang="en-US"/>
          </a:p>
        </p:txBody>
      </p:sp>
      <p:sp>
        <p:nvSpPr>
          <p:cNvPr id="5" name="Slide Number Placeholder 4">
            <a:extLst>
              <a:ext uri="{FF2B5EF4-FFF2-40B4-BE49-F238E27FC236}">
                <a16:creationId xmlns:a16="http://schemas.microsoft.com/office/drawing/2014/main" id="{69206AA4-8050-E949-13A8-6F5C1F675A77}"/>
              </a:ext>
            </a:extLst>
          </p:cNvPr>
          <p:cNvSpPr>
            <a:spLocks noGrp="1"/>
          </p:cNvSpPr>
          <p:nvPr>
            <p:ph type="sldNum" sz="quarter" idx="11"/>
          </p:nvPr>
        </p:nvSpPr>
        <p:spPr/>
        <p:txBody>
          <a:bodyPr/>
          <a:lstStyle/>
          <a:p>
            <a:fld id="{294A09A9-5501-47C1-A89A-A340965A2BE2}" type="slidenum">
              <a:rPr lang="en-US" smtClean="0"/>
              <a:pPr/>
              <a:t>53</a:t>
            </a:fld>
            <a:endParaRPr lang="en-US" dirty="0"/>
          </a:p>
        </p:txBody>
      </p:sp>
      <p:sp>
        <p:nvSpPr>
          <p:cNvPr id="3" name="Content Placeholder 2">
            <a:extLst>
              <a:ext uri="{FF2B5EF4-FFF2-40B4-BE49-F238E27FC236}">
                <a16:creationId xmlns:a16="http://schemas.microsoft.com/office/drawing/2014/main" id="{B861FA90-1B72-9089-4DF3-6613228215E2}"/>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Decisions based on facts, not guesswork</a:t>
            </a:r>
            <a:endParaRPr lang="en-US" b="1" dirty="0">
              <a:latin typeface="Segoe UI Light"/>
              <a:cs typeface="Segoe UI Light"/>
            </a:endParaRPr>
          </a:p>
          <a:p>
            <a:pPr marL="347345" indent="-347345"/>
            <a:r>
              <a:rPr lang="en-US" b="1">
                <a:ea typeface="+mn-lt"/>
                <a:cs typeface="+mn-lt"/>
              </a:rPr>
              <a:t>Uses data analysis &amp; insights</a:t>
            </a:r>
            <a:endParaRPr lang="en-US" b="1"/>
          </a:p>
          <a:p>
            <a:pPr marL="347345" indent="-347345"/>
            <a:r>
              <a:rPr lang="en-US" b="1">
                <a:ea typeface="+mn-lt"/>
                <a:cs typeface="+mn-lt"/>
              </a:rPr>
              <a:t>Improves accuracy and confidence</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4EBCEA07-C266-544E-F049-1338C5D199EC}"/>
              </a:ext>
            </a:extLst>
          </p:cNvPr>
          <p:cNvSpPr txBox="1"/>
          <p:nvPr/>
        </p:nvSpPr>
        <p:spPr>
          <a:xfrm>
            <a:off x="1009636" y="4201497"/>
            <a:ext cx="808862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bg1"/>
                </a:solidFill>
                <a:ea typeface="+mn-lt"/>
                <a:cs typeface="+mn-lt"/>
              </a:rPr>
              <a:t>Data‑driven </a:t>
            </a:r>
            <a:r>
              <a:rPr lang="en-US" sz="2800" b="1" dirty="0" err="1">
                <a:solidFill>
                  <a:schemeClr val="bg1"/>
                </a:solidFill>
                <a:ea typeface="+mn-lt"/>
                <a:cs typeface="+mn-lt"/>
              </a:rPr>
              <a:t>decision making</a:t>
            </a:r>
            <a:r>
              <a:rPr lang="en-US" sz="2800" b="1" dirty="0">
                <a:solidFill>
                  <a:schemeClr val="bg1"/>
                </a:solidFill>
                <a:ea typeface="+mn-lt"/>
                <a:cs typeface="+mn-lt"/>
              </a:rPr>
              <a:t> means using evidence and analysis rather than intuition. It helps organizations make choices that are more reliable and measurable.</a:t>
            </a:r>
            <a:endParaRPr lang="en-US" b="1" dirty="0">
              <a:solidFill>
                <a:schemeClr val="bg1"/>
              </a:solidFill>
              <a:ea typeface="+mn-lt"/>
              <a:cs typeface="+mn-lt"/>
            </a:endParaRPr>
          </a:p>
        </p:txBody>
      </p:sp>
    </p:spTree>
    <p:extLst>
      <p:ext uri="{BB962C8B-B14F-4D97-AF65-F5344CB8AC3E}">
        <p14:creationId xmlns:p14="http://schemas.microsoft.com/office/powerpoint/2010/main" val="20091740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0C788-B2F6-C64F-12C7-FD267F136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C0FAA-F032-6EA9-E021-C8C088215317}"/>
              </a:ext>
            </a:extLst>
          </p:cNvPr>
          <p:cNvSpPr>
            <a:spLocks noGrp="1"/>
          </p:cNvSpPr>
          <p:nvPr>
            <p:ph type="title"/>
          </p:nvPr>
        </p:nvSpPr>
        <p:spPr>
          <a:xfrm>
            <a:off x="1006420" y="389418"/>
            <a:ext cx="10976137" cy="1069848"/>
          </a:xfrm>
        </p:spPr>
        <p:txBody>
          <a:bodyPr>
            <a:normAutofit fontScale="90000"/>
          </a:bodyPr>
          <a:lstStyle/>
          <a:p>
            <a:r>
              <a:rPr lang="en-US" b="0" dirty="0">
                <a:ea typeface="+mj-lt"/>
                <a:cs typeface="+mj-lt"/>
              </a:rPr>
              <a:t>Principles of Data‑Driven Decision </a:t>
            </a:r>
            <a:r>
              <a:rPr lang="en-US" b="0">
                <a:ea typeface="+mj-lt"/>
                <a:cs typeface="+mj-lt"/>
              </a:rPr>
              <a:t>Making(PART1)</a:t>
            </a:r>
            <a:endParaRPr lang="en-US"/>
          </a:p>
        </p:txBody>
      </p:sp>
      <p:sp>
        <p:nvSpPr>
          <p:cNvPr id="5" name="Slide Number Placeholder 4">
            <a:extLst>
              <a:ext uri="{FF2B5EF4-FFF2-40B4-BE49-F238E27FC236}">
                <a16:creationId xmlns:a16="http://schemas.microsoft.com/office/drawing/2014/main" id="{C0E96144-B718-3E90-CB19-A3F34FE33553}"/>
              </a:ext>
            </a:extLst>
          </p:cNvPr>
          <p:cNvSpPr>
            <a:spLocks noGrp="1"/>
          </p:cNvSpPr>
          <p:nvPr>
            <p:ph type="sldNum" sz="quarter" idx="11"/>
          </p:nvPr>
        </p:nvSpPr>
        <p:spPr/>
        <p:txBody>
          <a:bodyPr/>
          <a:lstStyle/>
          <a:p>
            <a:fld id="{294A09A9-5501-47C1-A89A-A340965A2BE2}" type="slidenum">
              <a:rPr lang="en-US" smtClean="0"/>
              <a:pPr/>
              <a:t>54</a:t>
            </a:fld>
            <a:endParaRPr lang="en-US" dirty="0"/>
          </a:p>
        </p:txBody>
      </p:sp>
      <p:sp>
        <p:nvSpPr>
          <p:cNvPr id="3" name="Content Placeholder 2">
            <a:extLst>
              <a:ext uri="{FF2B5EF4-FFF2-40B4-BE49-F238E27FC236}">
                <a16:creationId xmlns:a16="http://schemas.microsoft.com/office/drawing/2014/main" id="{D743760F-11B7-61F6-7F3D-2C70D70295DF}"/>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Collect relevant, accurate data</a:t>
            </a:r>
            <a:endParaRPr lang="en-US" b="1" dirty="0">
              <a:latin typeface="Segoe UI Light"/>
              <a:cs typeface="Segoe UI Light"/>
            </a:endParaRPr>
          </a:p>
          <a:p>
            <a:pPr marL="347345" indent="-347345"/>
            <a:r>
              <a:rPr lang="en-US" b="1">
                <a:ea typeface="+mn-lt"/>
                <a:cs typeface="+mn-lt"/>
              </a:rPr>
              <a:t>Ensure transparency in analysis</a:t>
            </a:r>
            <a:endParaRPr lang="en-US" b="1"/>
          </a:p>
          <a:p>
            <a:pPr marL="347345" indent="-347345"/>
            <a:r>
              <a:rPr lang="en-US" b="1">
                <a:ea typeface="+mn-lt"/>
                <a:cs typeface="+mn-lt"/>
              </a:rPr>
              <a:t>Align data with business goals</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39FF318A-88E2-053E-DF99-C90D43A4F9BB}"/>
              </a:ext>
            </a:extLst>
          </p:cNvPr>
          <p:cNvSpPr txBox="1"/>
          <p:nvPr/>
        </p:nvSpPr>
        <p:spPr>
          <a:xfrm>
            <a:off x="1009636" y="4201497"/>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Principles include gathering the right data, making analysis transparent, and ensuring that data supports organizational objectives.</a:t>
            </a:r>
            <a:endParaRPr lang="en-US" b="1">
              <a:solidFill>
                <a:schemeClr val="bg1"/>
              </a:solidFill>
              <a:ea typeface="+mn-lt"/>
              <a:cs typeface="+mn-lt"/>
            </a:endParaRPr>
          </a:p>
        </p:txBody>
      </p:sp>
    </p:spTree>
    <p:extLst>
      <p:ext uri="{BB962C8B-B14F-4D97-AF65-F5344CB8AC3E}">
        <p14:creationId xmlns:p14="http://schemas.microsoft.com/office/powerpoint/2010/main" val="37265734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4F221-B0FB-FCA2-5CC3-50AD0DC76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EF3E7-80DB-03FC-454D-884E9655D859}"/>
              </a:ext>
            </a:extLst>
          </p:cNvPr>
          <p:cNvSpPr>
            <a:spLocks noGrp="1"/>
          </p:cNvSpPr>
          <p:nvPr>
            <p:ph type="title"/>
          </p:nvPr>
        </p:nvSpPr>
        <p:spPr>
          <a:xfrm>
            <a:off x="1006420" y="389418"/>
            <a:ext cx="10976137" cy="1069848"/>
          </a:xfrm>
        </p:spPr>
        <p:txBody>
          <a:bodyPr>
            <a:normAutofit fontScale="90000"/>
          </a:bodyPr>
          <a:lstStyle/>
          <a:p>
            <a:r>
              <a:rPr lang="en-US" b="0">
                <a:ea typeface="+mj-lt"/>
                <a:cs typeface="+mj-lt"/>
              </a:rPr>
              <a:t>Principles of Data‑Driven Decision Making (Part 2)</a:t>
            </a:r>
            <a:endParaRPr lang="en-US">
              <a:ea typeface="+mj-lt"/>
              <a:cs typeface="+mj-lt"/>
            </a:endParaRPr>
          </a:p>
        </p:txBody>
      </p:sp>
      <p:sp>
        <p:nvSpPr>
          <p:cNvPr id="5" name="Slide Number Placeholder 4">
            <a:extLst>
              <a:ext uri="{FF2B5EF4-FFF2-40B4-BE49-F238E27FC236}">
                <a16:creationId xmlns:a16="http://schemas.microsoft.com/office/drawing/2014/main" id="{3B00117A-0136-4481-E0F9-9D465AB4FE85}"/>
              </a:ext>
            </a:extLst>
          </p:cNvPr>
          <p:cNvSpPr>
            <a:spLocks noGrp="1"/>
          </p:cNvSpPr>
          <p:nvPr>
            <p:ph type="sldNum" sz="quarter" idx="11"/>
          </p:nvPr>
        </p:nvSpPr>
        <p:spPr/>
        <p:txBody>
          <a:bodyPr/>
          <a:lstStyle/>
          <a:p>
            <a:fld id="{294A09A9-5501-47C1-A89A-A340965A2BE2}" type="slidenum">
              <a:rPr lang="en-US" smtClean="0"/>
              <a:pPr/>
              <a:t>55</a:t>
            </a:fld>
            <a:endParaRPr lang="en-US" dirty="0"/>
          </a:p>
        </p:txBody>
      </p:sp>
      <p:sp>
        <p:nvSpPr>
          <p:cNvPr id="3" name="Content Placeholder 2">
            <a:extLst>
              <a:ext uri="{FF2B5EF4-FFF2-40B4-BE49-F238E27FC236}">
                <a16:creationId xmlns:a16="http://schemas.microsoft.com/office/drawing/2014/main" id="{C0539491-1B97-5ABF-F16F-05F5A449A309}"/>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Encourage evidence‑based culture</a:t>
            </a:r>
            <a:endParaRPr lang="en-US" b="1" dirty="0">
              <a:latin typeface="Segoe UI Light"/>
              <a:cs typeface="Segoe UI Light"/>
            </a:endParaRPr>
          </a:p>
          <a:p>
            <a:pPr marL="347345" indent="-347345"/>
            <a:r>
              <a:rPr lang="en-US" b="1">
                <a:ea typeface="+mn-lt"/>
                <a:cs typeface="+mn-lt"/>
              </a:rPr>
              <a:t>Continuous monitoring and improvement</a:t>
            </a:r>
            <a:endParaRPr lang="en-US" b="1"/>
          </a:p>
          <a:p>
            <a:pPr marL="347345" indent="-347345"/>
            <a:r>
              <a:rPr lang="en-US" b="1">
                <a:ea typeface="+mn-lt"/>
                <a:cs typeface="+mn-lt"/>
              </a:rPr>
              <a:t>Ethical use of data</a:t>
            </a:r>
            <a:endParaRPr lang="en-US" b="1"/>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AF17FB97-9C22-6D18-BCA8-27B874FD0157}"/>
              </a:ext>
            </a:extLst>
          </p:cNvPr>
          <p:cNvSpPr txBox="1"/>
          <p:nvPr/>
        </p:nvSpPr>
        <p:spPr>
          <a:xfrm>
            <a:off x="1009636" y="4201497"/>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Organizations must build a culture where evidence guides decisions, monitor outcomes regularly, and use data responsibly.</a:t>
            </a:r>
            <a:endParaRPr lang="en-US" b="1">
              <a:solidFill>
                <a:schemeClr val="bg1"/>
              </a:solidFill>
              <a:cs typeface="Segoe UI Light"/>
            </a:endParaRPr>
          </a:p>
        </p:txBody>
      </p:sp>
    </p:spTree>
    <p:extLst>
      <p:ext uri="{BB962C8B-B14F-4D97-AF65-F5344CB8AC3E}">
        <p14:creationId xmlns:p14="http://schemas.microsoft.com/office/powerpoint/2010/main" val="11562650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1226D-5511-824F-776B-8867BF0AF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0BAE2-1B38-4FE0-557A-0F3AAB187FD6}"/>
              </a:ext>
            </a:extLst>
          </p:cNvPr>
          <p:cNvSpPr>
            <a:spLocks noGrp="1"/>
          </p:cNvSpPr>
          <p:nvPr>
            <p:ph type="title"/>
          </p:nvPr>
        </p:nvSpPr>
        <p:spPr>
          <a:xfrm>
            <a:off x="1006420" y="389418"/>
            <a:ext cx="10976137" cy="1069848"/>
          </a:xfrm>
        </p:spPr>
        <p:txBody>
          <a:bodyPr>
            <a:normAutofit fontScale="90000"/>
          </a:bodyPr>
          <a:lstStyle/>
          <a:p>
            <a:r>
              <a:rPr lang="en-US" b="0">
                <a:ea typeface="+mj-lt"/>
                <a:cs typeface="+mj-lt"/>
              </a:rPr>
              <a:t>Benefits of Using Data for Decisions (Part 1)</a:t>
            </a:r>
            <a:endParaRPr lang="en-US"/>
          </a:p>
        </p:txBody>
      </p:sp>
      <p:sp>
        <p:nvSpPr>
          <p:cNvPr id="5" name="Slide Number Placeholder 4">
            <a:extLst>
              <a:ext uri="{FF2B5EF4-FFF2-40B4-BE49-F238E27FC236}">
                <a16:creationId xmlns:a16="http://schemas.microsoft.com/office/drawing/2014/main" id="{92B07EB6-A55A-09AF-BD5E-8DE23B32ED2E}"/>
              </a:ext>
            </a:extLst>
          </p:cNvPr>
          <p:cNvSpPr>
            <a:spLocks noGrp="1"/>
          </p:cNvSpPr>
          <p:nvPr>
            <p:ph type="sldNum" sz="quarter" idx="11"/>
          </p:nvPr>
        </p:nvSpPr>
        <p:spPr/>
        <p:txBody>
          <a:bodyPr/>
          <a:lstStyle/>
          <a:p>
            <a:fld id="{294A09A9-5501-47C1-A89A-A340965A2BE2}" type="slidenum">
              <a:rPr lang="en-US" smtClean="0"/>
              <a:pPr/>
              <a:t>56</a:t>
            </a:fld>
            <a:endParaRPr lang="en-US" dirty="0"/>
          </a:p>
        </p:txBody>
      </p:sp>
      <p:sp>
        <p:nvSpPr>
          <p:cNvPr id="3" name="Content Placeholder 2">
            <a:extLst>
              <a:ext uri="{FF2B5EF4-FFF2-40B4-BE49-F238E27FC236}">
                <a16:creationId xmlns:a16="http://schemas.microsoft.com/office/drawing/2014/main" id="{F78F43FA-1B6D-2D76-49E2-75B88B38FA2C}"/>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Reduces uncertainty</a:t>
            </a:r>
            <a:endParaRPr lang="en-US" b="1" dirty="0">
              <a:ea typeface="+mn-lt"/>
              <a:cs typeface="+mn-lt"/>
            </a:endParaRPr>
          </a:p>
          <a:p>
            <a:pPr marL="347345" indent="-347345"/>
            <a:r>
              <a:rPr lang="en-US" b="1">
                <a:ea typeface="+mn-lt"/>
                <a:cs typeface="+mn-lt"/>
              </a:rPr>
              <a:t>Improves efficiency</a:t>
            </a:r>
          </a:p>
          <a:p>
            <a:pPr marL="347345" indent="-347345"/>
            <a:r>
              <a:rPr lang="en-US" b="1">
                <a:ea typeface="+mn-lt"/>
                <a:cs typeface="+mn-lt"/>
              </a:rPr>
              <a:t>Enhances accuracy</a:t>
            </a:r>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8DBF3124-7359-E8A5-2B43-A2F4480DEE3D}"/>
              </a:ext>
            </a:extLst>
          </p:cNvPr>
          <p:cNvSpPr txBox="1"/>
          <p:nvPr/>
        </p:nvSpPr>
        <p:spPr>
          <a:xfrm>
            <a:off x="1009636" y="4201497"/>
            <a:ext cx="808862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reduces risks by providing clarity, improves efficiency by streamlining processes, and ensures decisions are based on facts.</a:t>
            </a:r>
            <a:endParaRPr lang="en-US" b="1">
              <a:solidFill>
                <a:schemeClr val="bg1"/>
              </a:solidFill>
              <a:cs typeface="Segoe UI Light"/>
            </a:endParaRPr>
          </a:p>
          <a:p>
            <a:endParaRPr lang="en-US" sz="2800" b="1" dirty="0">
              <a:solidFill>
                <a:schemeClr val="bg1"/>
              </a:solidFill>
              <a:cs typeface="Segoe UI Light"/>
            </a:endParaRPr>
          </a:p>
        </p:txBody>
      </p:sp>
    </p:spTree>
    <p:extLst>
      <p:ext uri="{BB962C8B-B14F-4D97-AF65-F5344CB8AC3E}">
        <p14:creationId xmlns:p14="http://schemas.microsoft.com/office/powerpoint/2010/main" val="22118105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B57CC-307C-F2D6-3692-483373DA1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2DE6A-AA47-3D81-4072-6CABAEE32608}"/>
              </a:ext>
            </a:extLst>
          </p:cNvPr>
          <p:cNvSpPr>
            <a:spLocks noGrp="1"/>
          </p:cNvSpPr>
          <p:nvPr>
            <p:ph type="title"/>
          </p:nvPr>
        </p:nvSpPr>
        <p:spPr>
          <a:xfrm>
            <a:off x="1006420" y="389418"/>
            <a:ext cx="10976137" cy="1069848"/>
          </a:xfrm>
        </p:spPr>
        <p:txBody>
          <a:bodyPr>
            <a:normAutofit fontScale="90000"/>
          </a:bodyPr>
          <a:lstStyle/>
          <a:p>
            <a:r>
              <a:rPr lang="en-US" b="0">
                <a:ea typeface="+mj-lt"/>
                <a:cs typeface="+mj-lt"/>
              </a:rPr>
              <a:t>Benefits of Using Data for Decisions (Part 2)</a:t>
            </a:r>
            <a:endParaRPr lang="en-US"/>
          </a:p>
        </p:txBody>
      </p:sp>
      <p:sp>
        <p:nvSpPr>
          <p:cNvPr id="5" name="Slide Number Placeholder 4">
            <a:extLst>
              <a:ext uri="{FF2B5EF4-FFF2-40B4-BE49-F238E27FC236}">
                <a16:creationId xmlns:a16="http://schemas.microsoft.com/office/drawing/2014/main" id="{17807E94-62EF-2AE3-B48B-05650276ECA8}"/>
              </a:ext>
            </a:extLst>
          </p:cNvPr>
          <p:cNvSpPr>
            <a:spLocks noGrp="1"/>
          </p:cNvSpPr>
          <p:nvPr>
            <p:ph type="sldNum" sz="quarter" idx="11"/>
          </p:nvPr>
        </p:nvSpPr>
        <p:spPr/>
        <p:txBody>
          <a:bodyPr/>
          <a:lstStyle/>
          <a:p>
            <a:fld id="{294A09A9-5501-47C1-A89A-A340965A2BE2}" type="slidenum">
              <a:rPr lang="en-US" smtClean="0"/>
              <a:pPr/>
              <a:t>57</a:t>
            </a:fld>
            <a:endParaRPr lang="en-US" dirty="0"/>
          </a:p>
        </p:txBody>
      </p:sp>
      <p:sp>
        <p:nvSpPr>
          <p:cNvPr id="3" name="Content Placeholder 2">
            <a:extLst>
              <a:ext uri="{FF2B5EF4-FFF2-40B4-BE49-F238E27FC236}">
                <a16:creationId xmlns:a16="http://schemas.microsoft.com/office/drawing/2014/main" id="{C54A8B4B-575F-BD1D-2861-E728DBB2503C}"/>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Supports innovation</a:t>
            </a:r>
            <a:endParaRPr lang="en-US" b="1" dirty="0">
              <a:ea typeface="+mn-lt"/>
              <a:cs typeface="+mn-lt"/>
            </a:endParaRPr>
          </a:p>
          <a:p>
            <a:pPr marL="347345" indent="-347345"/>
            <a:r>
              <a:rPr lang="en-US" b="1">
                <a:ea typeface="+mn-lt"/>
                <a:cs typeface="+mn-lt"/>
              </a:rPr>
              <a:t>Strengthens customer focus</a:t>
            </a:r>
          </a:p>
          <a:p>
            <a:pPr marL="347345" indent="-347345"/>
            <a:r>
              <a:rPr lang="en-US" b="1">
                <a:ea typeface="+mn-lt"/>
                <a:cs typeface="+mn-lt"/>
              </a:rPr>
              <a:t>Provides competitive advantage</a:t>
            </a:r>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0F36885A-82E8-2BC3-64EF-BB7F4A816877}"/>
              </a:ext>
            </a:extLst>
          </p:cNvPr>
          <p:cNvSpPr txBox="1"/>
          <p:nvPr/>
        </p:nvSpPr>
        <p:spPr>
          <a:xfrm>
            <a:off x="1009636" y="4201497"/>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Data helps companies innovate, understand customer needs better, and stay ahead of competitors.</a:t>
            </a:r>
            <a:endParaRPr lang="en-US" b="1">
              <a:solidFill>
                <a:schemeClr val="bg1"/>
              </a:solidFill>
              <a:cs typeface="Segoe UI Light"/>
            </a:endParaRPr>
          </a:p>
        </p:txBody>
      </p:sp>
    </p:spTree>
    <p:extLst>
      <p:ext uri="{BB962C8B-B14F-4D97-AF65-F5344CB8AC3E}">
        <p14:creationId xmlns:p14="http://schemas.microsoft.com/office/powerpoint/2010/main" val="28368759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08F12-6F94-83FF-26FD-B0DE4A60B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2FB7E-B288-586D-D090-967CC06A168A}"/>
              </a:ext>
            </a:extLst>
          </p:cNvPr>
          <p:cNvSpPr>
            <a:spLocks noGrp="1"/>
          </p:cNvSpPr>
          <p:nvPr>
            <p:ph type="title"/>
          </p:nvPr>
        </p:nvSpPr>
        <p:spPr>
          <a:xfrm>
            <a:off x="1006420" y="389418"/>
            <a:ext cx="10976137" cy="1069848"/>
          </a:xfrm>
        </p:spPr>
        <p:txBody>
          <a:bodyPr>
            <a:normAutofit fontScale="90000"/>
          </a:bodyPr>
          <a:lstStyle/>
          <a:p>
            <a:r>
              <a:rPr lang="en-US" b="0">
                <a:ea typeface="+mj-lt"/>
                <a:cs typeface="+mj-lt"/>
              </a:rPr>
              <a:t>Steps in the Data‑Driven Decision Process (Part 1)</a:t>
            </a:r>
            <a:endParaRPr lang="en-US"/>
          </a:p>
        </p:txBody>
      </p:sp>
      <p:sp>
        <p:nvSpPr>
          <p:cNvPr id="5" name="Slide Number Placeholder 4">
            <a:extLst>
              <a:ext uri="{FF2B5EF4-FFF2-40B4-BE49-F238E27FC236}">
                <a16:creationId xmlns:a16="http://schemas.microsoft.com/office/drawing/2014/main" id="{66AA7CAA-957C-49CA-64AD-09E0DEC4768E}"/>
              </a:ext>
            </a:extLst>
          </p:cNvPr>
          <p:cNvSpPr>
            <a:spLocks noGrp="1"/>
          </p:cNvSpPr>
          <p:nvPr>
            <p:ph type="sldNum" sz="quarter" idx="11"/>
          </p:nvPr>
        </p:nvSpPr>
        <p:spPr/>
        <p:txBody>
          <a:bodyPr/>
          <a:lstStyle/>
          <a:p>
            <a:fld id="{294A09A9-5501-47C1-A89A-A340965A2BE2}" type="slidenum">
              <a:rPr lang="en-US" smtClean="0"/>
              <a:pPr/>
              <a:t>58</a:t>
            </a:fld>
            <a:endParaRPr lang="en-US" dirty="0"/>
          </a:p>
        </p:txBody>
      </p:sp>
      <p:sp>
        <p:nvSpPr>
          <p:cNvPr id="3" name="Content Placeholder 2">
            <a:extLst>
              <a:ext uri="{FF2B5EF4-FFF2-40B4-BE49-F238E27FC236}">
                <a16:creationId xmlns:a16="http://schemas.microsoft.com/office/drawing/2014/main" id="{34E02350-FF3D-8458-C8A3-5130336DE139}"/>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Identify problem or goal</a:t>
            </a:r>
            <a:endParaRPr lang="en-US" b="1" dirty="0">
              <a:ea typeface="+mn-lt"/>
              <a:cs typeface="+mn-lt"/>
            </a:endParaRPr>
          </a:p>
          <a:p>
            <a:pPr marL="347345" indent="-347345"/>
            <a:r>
              <a:rPr lang="en-US" b="1">
                <a:ea typeface="+mn-lt"/>
                <a:cs typeface="+mn-lt"/>
              </a:rPr>
              <a:t>Collect relevant data</a:t>
            </a:r>
          </a:p>
          <a:p>
            <a:pPr marL="347345" indent="-347345"/>
            <a:r>
              <a:rPr lang="en-US" b="1">
                <a:ea typeface="+mn-lt"/>
                <a:cs typeface="+mn-lt"/>
              </a:rPr>
              <a:t>Clean and prepare data</a:t>
            </a:r>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DB05A41F-87BC-D0FD-D004-D6731E15F478}"/>
              </a:ext>
            </a:extLst>
          </p:cNvPr>
          <p:cNvSpPr txBox="1"/>
          <p:nvPr/>
        </p:nvSpPr>
        <p:spPr>
          <a:xfrm>
            <a:off x="1009636" y="4201497"/>
            <a:ext cx="808862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The process begins with defining the problem, gathering data, and preparing it for analysis.</a:t>
            </a:r>
            <a:endParaRPr lang="en-US" b="1">
              <a:solidFill>
                <a:schemeClr val="bg1"/>
              </a:solidFill>
              <a:cs typeface="Segoe UI Light"/>
            </a:endParaRPr>
          </a:p>
          <a:p>
            <a:endParaRPr lang="en-US" sz="2800" b="1" dirty="0">
              <a:solidFill>
                <a:schemeClr val="bg1"/>
              </a:solidFill>
              <a:cs typeface="Segoe UI Light"/>
            </a:endParaRPr>
          </a:p>
        </p:txBody>
      </p:sp>
    </p:spTree>
    <p:extLst>
      <p:ext uri="{BB962C8B-B14F-4D97-AF65-F5344CB8AC3E}">
        <p14:creationId xmlns:p14="http://schemas.microsoft.com/office/powerpoint/2010/main" val="2750421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5A5C5-F78C-6117-5856-398E8992C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0F0DB-FF6C-28EF-50C9-C66D79003AE5}"/>
              </a:ext>
            </a:extLst>
          </p:cNvPr>
          <p:cNvSpPr>
            <a:spLocks noGrp="1"/>
          </p:cNvSpPr>
          <p:nvPr>
            <p:ph type="title"/>
          </p:nvPr>
        </p:nvSpPr>
        <p:spPr>
          <a:xfrm>
            <a:off x="1006420" y="389418"/>
            <a:ext cx="10976137" cy="1069848"/>
          </a:xfrm>
        </p:spPr>
        <p:txBody>
          <a:bodyPr>
            <a:normAutofit fontScale="90000"/>
          </a:bodyPr>
          <a:lstStyle/>
          <a:p>
            <a:r>
              <a:rPr lang="en-US" b="0">
                <a:ea typeface="+mj-lt"/>
                <a:cs typeface="+mj-lt"/>
              </a:rPr>
              <a:t>Steps in the Data‑Driven Decision Process (Part 2)</a:t>
            </a:r>
            <a:endParaRPr lang="en-US"/>
          </a:p>
        </p:txBody>
      </p:sp>
      <p:sp>
        <p:nvSpPr>
          <p:cNvPr id="5" name="Slide Number Placeholder 4">
            <a:extLst>
              <a:ext uri="{FF2B5EF4-FFF2-40B4-BE49-F238E27FC236}">
                <a16:creationId xmlns:a16="http://schemas.microsoft.com/office/drawing/2014/main" id="{3B46C5BC-FDED-B254-965A-DB6EA4CB5424}"/>
              </a:ext>
            </a:extLst>
          </p:cNvPr>
          <p:cNvSpPr>
            <a:spLocks noGrp="1"/>
          </p:cNvSpPr>
          <p:nvPr>
            <p:ph type="sldNum" sz="quarter" idx="11"/>
          </p:nvPr>
        </p:nvSpPr>
        <p:spPr/>
        <p:txBody>
          <a:bodyPr/>
          <a:lstStyle/>
          <a:p>
            <a:fld id="{294A09A9-5501-47C1-A89A-A340965A2BE2}" type="slidenum">
              <a:rPr lang="en-US" smtClean="0"/>
              <a:pPr/>
              <a:t>59</a:t>
            </a:fld>
            <a:endParaRPr lang="en-US" dirty="0"/>
          </a:p>
        </p:txBody>
      </p:sp>
      <p:sp>
        <p:nvSpPr>
          <p:cNvPr id="3" name="Content Placeholder 2">
            <a:extLst>
              <a:ext uri="{FF2B5EF4-FFF2-40B4-BE49-F238E27FC236}">
                <a16:creationId xmlns:a16="http://schemas.microsoft.com/office/drawing/2014/main" id="{E7672C72-FD14-350B-91BF-49506B38ADEB}"/>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Analyze data for insights</a:t>
            </a:r>
            <a:endParaRPr lang="en-US" b="1" dirty="0">
              <a:ea typeface="+mn-lt"/>
              <a:cs typeface="+mn-lt"/>
            </a:endParaRPr>
          </a:p>
          <a:p>
            <a:pPr marL="347345" indent="-347345"/>
            <a:r>
              <a:rPr lang="en-US" b="1">
                <a:ea typeface="+mn-lt"/>
                <a:cs typeface="+mn-lt"/>
              </a:rPr>
              <a:t>Make decision based on evidence</a:t>
            </a:r>
          </a:p>
          <a:p>
            <a:pPr marL="347345" indent="-347345"/>
            <a:r>
              <a:rPr lang="en-US" b="1">
                <a:ea typeface="+mn-lt"/>
                <a:cs typeface="+mn-lt"/>
              </a:rPr>
              <a:t>Monitor and refine outcomes</a:t>
            </a:r>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A8B6667F-0575-A5EC-0E87-E62041C04AA3}"/>
              </a:ext>
            </a:extLst>
          </p:cNvPr>
          <p:cNvSpPr txBox="1"/>
          <p:nvPr/>
        </p:nvSpPr>
        <p:spPr>
          <a:xfrm>
            <a:off x="1009636" y="4201497"/>
            <a:ext cx="808862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Analysis generates insights, decisions are made based on those insights, and results are monitored for continuous improvement.</a:t>
            </a:r>
            <a:endParaRPr lang="en-US" b="1">
              <a:solidFill>
                <a:schemeClr val="bg1"/>
              </a:solidFill>
              <a:cs typeface="Segoe UI Light"/>
            </a:endParaRPr>
          </a:p>
          <a:p>
            <a:endParaRPr lang="en-US" sz="2800" b="1" dirty="0">
              <a:solidFill>
                <a:schemeClr val="bg1"/>
              </a:solidFill>
              <a:cs typeface="Segoe UI Light"/>
            </a:endParaRPr>
          </a:p>
        </p:txBody>
      </p:sp>
    </p:spTree>
    <p:extLst>
      <p:ext uri="{BB962C8B-B14F-4D97-AF65-F5344CB8AC3E}">
        <p14:creationId xmlns:p14="http://schemas.microsoft.com/office/powerpoint/2010/main" val="30338233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26CC7-C6B8-B7DB-5FC6-CDB37F88C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F0B1E-D9E1-4EC4-BB2A-023A59481C8B}"/>
              </a:ext>
            </a:extLst>
          </p:cNvPr>
          <p:cNvSpPr>
            <a:spLocks noGrp="1"/>
          </p:cNvSpPr>
          <p:nvPr>
            <p:ph type="title"/>
          </p:nvPr>
        </p:nvSpPr>
        <p:spPr>
          <a:xfrm>
            <a:off x="1006420" y="389418"/>
            <a:ext cx="10976137" cy="1069848"/>
          </a:xfrm>
        </p:spPr>
        <p:txBody>
          <a:bodyPr>
            <a:normAutofit/>
          </a:bodyPr>
          <a:lstStyle/>
          <a:p>
            <a:r>
              <a:rPr lang="en-US" b="0">
                <a:ea typeface="+mj-lt"/>
                <a:cs typeface="+mj-lt"/>
              </a:rPr>
              <a:t>Challenges and Pitfalls</a:t>
            </a:r>
            <a:endParaRPr lang="en-US"/>
          </a:p>
        </p:txBody>
      </p:sp>
      <p:sp>
        <p:nvSpPr>
          <p:cNvPr id="5" name="Slide Number Placeholder 4">
            <a:extLst>
              <a:ext uri="{FF2B5EF4-FFF2-40B4-BE49-F238E27FC236}">
                <a16:creationId xmlns:a16="http://schemas.microsoft.com/office/drawing/2014/main" id="{93282BC0-314A-5903-F634-38AFFB58A45E}"/>
              </a:ext>
            </a:extLst>
          </p:cNvPr>
          <p:cNvSpPr>
            <a:spLocks noGrp="1"/>
          </p:cNvSpPr>
          <p:nvPr>
            <p:ph type="sldNum" sz="quarter" idx="11"/>
          </p:nvPr>
        </p:nvSpPr>
        <p:spPr/>
        <p:txBody>
          <a:bodyPr/>
          <a:lstStyle/>
          <a:p>
            <a:fld id="{294A09A9-5501-47C1-A89A-A340965A2BE2}" type="slidenum">
              <a:rPr lang="en-US" smtClean="0"/>
              <a:pPr/>
              <a:t>60</a:t>
            </a:fld>
            <a:endParaRPr lang="en-US" dirty="0"/>
          </a:p>
        </p:txBody>
      </p:sp>
      <p:sp>
        <p:nvSpPr>
          <p:cNvPr id="3" name="Content Placeholder 2">
            <a:extLst>
              <a:ext uri="{FF2B5EF4-FFF2-40B4-BE49-F238E27FC236}">
                <a16:creationId xmlns:a16="http://schemas.microsoft.com/office/drawing/2014/main" id="{EA4C26C4-6B42-FB35-6BAE-09A116435D80}"/>
              </a:ext>
            </a:extLst>
          </p:cNvPr>
          <p:cNvSpPr>
            <a:spLocks noGrp="1"/>
          </p:cNvSpPr>
          <p:nvPr>
            <p:ph idx="1"/>
          </p:nvPr>
        </p:nvSpPr>
        <p:spPr>
          <a:xfrm>
            <a:off x="1006421" y="1458104"/>
            <a:ext cx="9834444" cy="1969154"/>
          </a:xfrm>
        </p:spPr>
        <p:txBody>
          <a:bodyPr vert="horz" lIns="91440" tIns="45720" rIns="91440" bIns="45720" rtlCol="0" anchor="t">
            <a:noAutofit/>
          </a:bodyPr>
          <a:lstStyle/>
          <a:p>
            <a:pPr marL="347345" indent="-347345"/>
            <a:r>
              <a:rPr lang="en-US" b="1">
                <a:ea typeface="+mn-lt"/>
                <a:cs typeface="+mn-lt"/>
              </a:rPr>
              <a:t>Poor data quality</a:t>
            </a:r>
            <a:endParaRPr lang="en-US" b="1" dirty="0">
              <a:ea typeface="+mn-lt"/>
              <a:cs typeface="+mn-lt"/>
            </a:endParaRPr>
          </a:p>
          <a:p>
            <a:pPr marL="347345" indent="-347345"/>
            <a:r>
              <a:rPr lang="en-US" b="1">
                <a:ea typeface="+mn-lt"/>
                <a:cs typeface="+mn-lt"/>
              </a:rPr>
              <a:t>Data overload (too much information)</a:t>
            </a:r>
          </a:p>
          <a:p>
            <a:pPr marL="347345" indent="-347345"/>
            <a:r>
              <a:rPr lang="en-US" b="1">
                <a:ea typeface="+mn-lt"/>
                <a:cs typeface="+mn-lt"/>
              </a:rPr>
              <a:t>Resistance to change</a:t>
            </a:r>
          </a:p>
          <a:p>
            <a:pPr marL="347345" indent="-347345"/>
            <a:r>
              <a:rPr lang="en-US" b="1">
                <a:ea typeface="+mn-lt"/>
                <a:cs typeface="+mn-lt"/>
              </a:rPr>
              <a:t>Misinterpretation of results</a:t>
            </a:r>
          </a:p>
          <a:p>
            <a:pPr marL="347345" indent="-347345"/>
            <a:endParaRPr lang="en-US" b="1" dirty="0">
              <a:latin typeface="Segoe UI Light"/>
              <a:cs typeface="Segoe UI Light"/>
            </a:endParaRPr>
          </a:p>
        </p:txBody>
      </p:sp>
      <p:sp>
        <p:nvSpPr>
          <p:cNvPr id="6" name="TextBox 5">
            <a:extLst>
              <a:ext uri="{FF2B5EF4-FFF2-40B4-BE49-F238E27FC236}">
                <a16:creationId xmlns:a16="http://schemas.microsoft.com/office/drawing/2014/main" id="{CEA716A5-264A-CE3F-FD3D-3079EBF78AC0}"/>
              </a:ext>
            </a:extLst>
          </p:cNvPr>
          <p:cNvSpPr txBox="1"/>
          <p:nvPr/>
        </p:nvSpPr>
        <p:spPr>
          <a:xfrm>
            <a:off x="1009636" y="4375668"/>
            <a:ext cx="808862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Challenges include inaccurate data, overwhelming amounts of information, organizational resistance, and the risk of drawing wrong conclusions.</a:t>
            </a:r>
            <a:endParaRPr lang="en-US" b="1">
              <a:solidFill>
                <a:schemeClr val="bg1"/>
              </a:solidFill>
              <a:cs typeface="Segoe UI Light"/>
            </a:endParaRPr>
          </a:p>
          <a:p>
            <a:endParaRPr lang="en-US" sz="2800" b="1" dirty="0">
              <a:solidFill>
                <a:schemeClr val="bg1"/>
              </a:solidFill>
              <a:cs typeface="Segoe UI Light"/>
            </a:endParaRPr>
          </a:p>
        </p:txBody>
      </p:sp>
    </p:spTree>
    <p:extLst>
      <p:ext uri="{BB962C8B-B14F-4D97-AF65-F5344CB8AC3E}">
        <p14:creationId xmlns:p14="http://schemas.microsoft.com/office/powerpoint/2010/main" val="41713630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EF029-92FE-B52E-4480-CE7A1B36B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62B23-D4AC-D73F-A762-4D54369AC502}"/>
              </a:ext>
            </a:extLst>
          </p:cNvPr>
          <p:cNvSpPr>
            <a:spLocks noGrp="1"/>
          </p:cNvSpPr>
          <p:nvPr>
            <p:ph type="ctrTitle"/>
          </p:nvPr>
        </p:nvSpPr>
        <p:spPr>
          <a:xfrm>
            <a:off x="3048145" y="3261070"/>
            <a:ext cx="7735824" cy="1069848"/>
          </a:xfrm>
        </p:spPr>
        <p:txBody>
          <a:bodyPr vert="horz" lIns="91440" tIns="45720" rIns="91440" bIns="45720" rtlCol="0" anchor="ctr">
            <a:noAutofit/>
          </a:bodyPr>
          <a:lstStyle/>
          <a:p>
            <a:pPr algn="l"/>
            <a:r>
              <a:rPr lang="en-US"/>
              <a:t>Case Discussions / Real-Life Examples</a:t>
            </a:r>
          </a:p>
          <a:p>
            <a:endParaRPr lang="en-US" sz="4800" b="0" dirty="0"/>
          </a:p>
        </p:txBody>
      </p:sp>
    </p:spTree>
    <p:extLst>
      <p:ext uri="{BB962C8B-B14F-4D97-AF65-F5344CB8AC3E}">
        <p14:creationId xmlns:p14="http://schemas.microsoft.com/office/powerpoint/2010/main" val="31120926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4A2E7-1BAE-1B8F-1D71-DCB7C4F4B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9D38A-260A-373A-2A78-2360E43C6E9F}"/>
              </a:ext>
            </a:extLst>
          </p:cNvPr>
          <p:cNvSpPr>
            <a:spLocks noGrp="1"/>
          </p:cNvSpPr>
          <p:nvPr>
            <p:ph type="title"/>
          </p:nvPr>
        </p:nvSpPr>
        <p:spPr>
          <a:xfrm>
            <a:off x="854020" y="570847"/>
            <a:ext cx="10976137" cy="1069848"/>
          </a:xfrm>
        </p:spPr>
        <p:txBody>
          <a:bodyPr>
            <a:normAutofit/>
          </a:bodyPr>
          <a:lstStyle/>
          <a:p>
            <a:r>
              <a:rPr lang="en-US" b="0">
                <a:ea typeface="+mj-lt"/>
                <a:cs typeface="+mj-lt"/>
              </a:rPr>
              <a:t>Analysis of Business Scenarios</a:t>
            </a:r>
            <a:endParaRPr lang="en-US"/>
          </a:p>
        </p:txBody>
      </p:sp>
      <p:sp>
        <p:nvSpPr>
          <p:cNvPr id="5" name="Slide Number Placeholder 4">
            <a:extLst>
              <a:ext uri="{FF2B5EF4-FFF2-40B4-BE49-F238E27FC236}">
                <a16:creationId xmlns:a16="http://schemas.microsoft.com/office/drawing/2014/main" id="{21D339E5-D4DD-0269-1032-B5683E617F0D}"/>
              </a:ext>
            </a:extLst>
          </p:cNvPr>
          <p:cNvSpPr>
            <a:spLocks noGrp="1"/>
          </p:cNvSpPr>
          <p:nvPr>
            <p:ph type="sldNum" sz="quarter" idx="11"/>
          </p:nvPr>
        </p:nvSpPr>
        <p:spPr/>
        <p:txBody>
          <a:bodyPr/>
          <a:lstStyle/>
          <a:p>
            <a:fld id="{294A09A9-5501-47C1-A89A-A340965A2BE2}" type="slidenum">
              <a:rPr lang="en-US" smtClean="0"/>
              <a:pPr/>
              <a:t>62</a:t>
            </a:fld>
            <a:endParaRPr lang="en-US" dirty="0"/>
          </a:p>
        </p:txBody>
      </p:sp>
      <p:sp>
        <p:nvSpPr>
          <p:cNvPr id="3" name="Content Placeholder 2">
            <a:extLst>
              <a:ext uri="{FF2B5EF4-FFF2-40B4-BE49-F238E27FC236}">
                <a16:creationId xmlns:a16="http://schemas.microsoft.com/office/drawing/2014/main" id="{4B6DA415-6E00-FBE9-9635-EB083FDE6DAB}"/>
              </a:ext>
            </a:extLst>
          </p:cNvPr>
          <p:cNvSpPr>
            <a:spLocks noGrp="1"/>
          </p:cNvSpPr>
          <p:nvPr>
            <p:ph idx="1"/>
          </p:nvPr>
        </p:nvSpPr>
        <p:spPr>
          <a:xfrm>
            <a:off x="1006421" y="2445075"/>
            <a:ext cx="9834444" cy="1969154"/>
          </a:xfrm>
        </p:spPr>
        <p:txBody>
          <a:bodyPr vert="horz" lIns="91440" tIns="45720" rIns="91440" bIns="45720" rtlCol="0" anchor="t">
            <a:noAutofit/>
          </a:bodyPr>
          <a:lstStyle/>
          <a:p>
            <a:pPr marL="347345" indent="-347345"/>
            <a:r>
              <a:rPr lang="en-US">
                <a:ea typeface="+mn-lt"/>
                <a:cs typeface="+mn-lt"/>
              </a:rPr>
              <a:t>Identify the problem or challenge</a:t>
            </a:r>
            <a:endParaRPr lang="en-US" b="1" dirty="0">
              <a:ea typeface="+mn-lt"/>
              <a:cs typeface="+mn-lt"/>
            </a:endParaRPr>
          </a:p>
          <a:p>
            <a:pPr marL="347345" indent="-347345"/>
            <a:r>
              <a:rPr lang="en-US">
                <a:ea typeface="+mn-lt"/>
                <a:cs typeface="+mn-lt"/>
              </a:rPr>
              <a:t>Collect and examine relevant data</a:t>
            </a:r>
          </a:p>
          <a:p>
            <a:pPr marL="347345" indent="-347345"/>
            <a:r>
              <a:rPr lang="en-US">
                <a:ea typeface="+mn-lt"/>
                <a:cs typeface="+mn-lt"/>
              </a:rPr>
              <a:t>Generate insights and possible solutions</a:t>
            </a:r>
          </a:p>
          <a:p>
            <a:pPr marL="347345" indent="-347345"/>
            <a:r>
              <a:rPr lang="en-US">
                <a:ea typeface="+mn-lt"/>
                <a:cs typeface="+mn-lt"/>
              </a:rPr>
              <a:t>Evaluate outcomes and refine decisions</a:t>
            </a:r>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14190046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48F8F-CA6E-A242-CF9E-89C89A37D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4FC6E-2B7F-93F2-C3C9-6F3111087A91}"/>
              </a:ext>
            </a:extLst>
          </p:cNvPr>
          <p:cNvSpPr>
            <a:spLocks noGrp="1"/>
          </p:cNvSpPr>
          <p:nvPr>
            <p:ph type="title"/>
          </p:nvPr>
        </p:nvSpPr>
        <p:spPr>
          <a:xfrm>
            <a:off x="854020" y="570847"/>
            <a:ext cx="10976137" cy="1069848"/>
          </a:xfrm>
        </p:spPr>
        <p:txBody>
          <a:bodyPr>
            <a:normAutofit/>
          </a:bodyPr>
          <a:lstStyle/>
          <a:p>
            <a:r>
              <a:rPr lang="en-US" b="0">
                <a:ea typeface="+mj-lt"/>
                <a:cs typeface="+mj-lt"/>
              </a:rPr>
              <a:t>Analysis of Business Scenarios</a:t>
            </a:r>
            <a:endParaRPr lang="en-US"/>
          </a:p>
        </p:txBody>
      </p:sp>
      <p:sp>
        <p:nvSpPr>
          <p:cNvPr id="5" name="Slide Number Placeholder 4">
            <a:extLst>
              <a:ext uri="{FF2B5EF4-FFF2-40B4-BE49-F238E27FC236}">
                <a16:creationId xmlns:a16="http://schemas.microsoft.com/office/drawing/2014/main" id="{CB2B0574-BD8B-DDE3-2BD2-269741B1771A}"/>
              </a:ext>
            </a:extLst>
          </p:cNvPr>
          <p:cNvSpPr>
            <a:spLocks noGrp="1"/>
          </p:cNvSpPr>
          <p:nvPr>
            <p:ph type="sldNum" sz="quarter" idx="11"/>
          </p:nvPr>
        </p:nvSpPr>
        <p:spPr/>
        <p:txBody>
          <a:bodyPr/>
          <a:lstStyle/>
          <a:p>
            <a:fld id="{294A09A9-5501-47C1-A89A-A340965A2BE2}" type="slidenum">
              <a:rPr lang="en-US" smtClean="0"/>
              <a:pPr/>
              <a:t>63</a:t>
            </a:fld>
            <a:endParaRPr lang="en-US" dirty="0"/>
          </a:p>
        </p:txBody>
      </p:sp>
      <p:sp>
        <p:nvSpPr>
          <p:cNvPr id="3" name="Content Placeholder 2">
            <a:extLst>
              <a:ext uri="{FF2B5EF4-FFF2-40B4-BE49-F238E27FC236}">
                <a16:creationId xmlns:a16="http://schemas.microsoft.com/office/drawing/2014/main" id="{AB894F2B-6A2E-3D3D-2C2F-2CC8A3B66ECF}"/>
              </a:ext>
            </a:extLst>
          </p:cNvPr>
          <p:cNvSpPr>
            <a:spLocks noGrp="1"/>
          </p:cNvSpPr>
          <p:nvPr>
            <p:ph idx="1"/>
          </p:nvPr>
        </p:nvSpPr>
        <p:spPr>
          <a:xfrm>
            <a:off x="1006421" y="2445075"/>
            <a:ext cx="9834444" cy="1969154"/>
          </a:xfrm>
        </p:spPr>
        <p:txBody>
          <a:bodyPr vert="horz" lIns="91440" tIns="45720" rIns="91440" bIns="45720" rtlCol="0" anchor="t">
            <a:noAutofit/>
          </a:bodyPr>
          <a:lstStyle/>
          <a:p>
            <a:pPr marL="347345" indent="-347345"/>
            <a:r>
              <a:rPr lang="en-US">
                <a:ea typeface="+mn-lt"/>
                <a:cs typeface="+mn-lt"/>
              </a:rPr>
              <a:t>Identify the problem or challenge</a:t>
            </a:r>
            <a:endParaRPr lang="en-US" b="1" dirty="0">
              <a:ea typeface="+mn-lt"/>
              <a:cs typeface="+mn-lt"/>
            </a:endParaRPr>
          </a:p>
          <a:p>
            <a:pPr marL="347345" indent="-347345"/>
            <a:r>
              <a:rPr lang="en-US">
                <a:ea typeface="+mn-lt"/>
                <a:cs typeface="+mn-lt"/>
              </a:rPr>
              <a:t>Collect and examine relevant data</a:t>
            </a:r>
          </a:p>
          <a:p>
            <a:pPr marL="347345" indent="-347345"/>
            <a:r>
              <a:rPr lang="en-US">
                <a:ea typeface="+mn-lt"/>
                <a:cs typeface="+mn-lt"/>
              </a:rPr>
              <a:t>Generate insights and possible solutions</a:t>
            </a:r>
          </a:p>
          <a:p>
            <a:pPr marL="347345" indent="-347345"/>
            <a:r>
              <a:rPr lang="en-US">
                <a:ea typeface="+mn-lt"/>
                <a:cs typeface="+mn-lt"/>
              </a:rPr>
              <a:t>Evaluate outcomes and refine decisions</a:t>
            </a:r>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34229343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E3954-F714-7C97-85E8-91E629131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C1FB9-FDD7-C629-E94B-904EB9D8FF72}"/>
              </a:ext>
            </a:extLst>
          </p:cNvPr>
          <p:cNvSpPr>
            <a:spLocks noGrp="1"/>
          </p:cNvSpPr>
          <p:nvPr>
            <p:ph type="title"/>
          </p:nvPr>
        </p:nvSpPr>
        <p:spPr>
          <a:xfrm>
            <a:off x="854020" y="570847"/>
            <a:ext cx="10976137" cy="1069848"/>
          </a:xfrm>
        </p:spPr>
        <p:txBody>
          <a:bodyPr>
            <a:normAutofit/>
          </a:bodyPr>
          <a:lstStyle/>
          <a:p>
            <a:r>
              <a:rPr lang="en-US" b="0">
                <a:ea typeface="+mj-lt"/>
                <a:cs typeface="+mj-lt"/>
              </a:rPr>
              <a:t>Analysis of Business Scenarios</a:t>
            </a:r>
            <a:endParaRPr lang="en-US"/>
          </a:p>
        </p:txBody>
      </p:sp>
      <p:sp>
        <p:nvSpPr>
          <p:cNvPr id="5" name="Slide Number Placeholder 4">
            <a:extLst>
              <a:ext uri="{FF2B5EF4-FFF2-40B4-BE49-F238E27FC236}">
                <a16:creationId xmlns:a16="http://schemas.microsoft.com/office/drawing/2014/main" id="{0F4B386E-F1A2-6455-036B-CDA99A4EE58C}"/>
              </a:ext>
            </a:extLst>
          </p:cNvPr>
          <p:cNvSpPr>
            <a:spLocks noGrp="1"/>
          </p:cNvSpPr>
          <p:nvPr>
            <p:ph type="sldNum" sz="quarter" idx="11"/>
          </p:nvPr>
        </p:nvSpPr>
        <p:spPr/>
        <p:txBody>
          <a:bodyPr/>
          <a:lstStyle/>
          <a:p>
            <a:fld id="{294A09A9-5501-47C1-A89A-A340965A2BE2}" type="slidenum">
              <a:rPr lang="en-US" smtClean="0"/>
              <a:pPr/>
              <a:t>64</a:t>
            </a:fld>
            <a:endParaRPr lang="en-US" dirty="0"/>
          </a:p>
        </p:txBody>
      </p:sp>
      <p:sp>
        <p:nvSpPr>
          <p:cNvPr id="3" name="Content Placeholder 2">
            <a:extLst>
              <a:ext uri="{FF2B5EF4-FFF2-40B4-BE49-F238E27FC236}">
                <a16:creationId xmlns:a16="http://schemas.microsoft.com/office/drawing/2014/main" id="{4E475A45-712B-8387-08AD-B7F495704D50}"/>
              </a:ext>
            </a:extLst>
          </p:cNvPr>
          <p:cNvSpPr>
            <a:spLocks noGrp="1"/>
          </p:cNvSpPr>
          <p:nvPr>
            <p:ph idx="1"/>
          </p:nvPr>
        </p:nvSpPr>
        <p:spPr>
          <a:xfrm>
            <a:off x="1006421" y="2445075"/>
            <a:ext cx="9834444" cy="1969154"/>
          </a:xfrm>
        </p:spPr>
        <p:txBody>
          <a:bodyPr vert="horz" lIns="91440" tIns="45720" rIns="91440" bIns="45720" rtlCol="0" anchor="t">
            <a:noAutofit/>
          </a:bodyPr>
          <a:lstStyle/>
          <a:p>
            <a:pPr marL="347345" indent="-347345"/>
            <a:r>
              <a:rPr lang="en-US">
                <a:ea typeface="+mn-lt"/>
                <a:cs typeface="+mn-lt"/>
              </a:rPr>
              <a:t>Identify the problem or challenge</a:t>
            </a:r>
            <a:endParaRPr lang="en-US" b="1" dirty="0">
              <a:ea typeface="+mn-lt"/>
              <a:cs typeface="+mn-lt"/>
            </a:endParaRPr>
          </a:p>
          <a:p>
            <a:pPr marL="347345" indent="-347345"/>
            <a:r>
              <a:rPr lang="en-US">
                <a:ea typeface="+mn-lt"/>
                <a:cs typeface="+mn-lt"/>
              </a:rPr>
              <a:t>Collect and examine relevant data</a:t>
            </a:r>
          </a:p>
          <a:p>
            <a:pPr marL="347345" indent="-347345"/>
            <a:r>
              <a:rPr lang="en-US">
                <a:ea typeface="+mn-lt"/>
                <a:cs typeface="+mn-lt"/>
              </a:rPr>
              <a:t>Generate insights and possible solutions</a:t>
            </a:r>
          </a:p>
          <a:p>
            <a:pPr marL="347345" indent="-347345"/>
            <a:r>
              <a:rPr lang="en-US">
                <a:ea typeface="+mn-lt"/>
                <a:cs typeface="+mn-lt"/>
              </a:rPr>
              <a:t>Evaluate outcomes and refine decisions</a:t>
            </a:r>
          </a:p>
          <a:p>
            <a:pPr marL="347345" indent="-347345"/>
            <a:endParaRPr lang="en-US" b="1" dirty="0">
              <a:latin typeface="Segoe UI Light"/>
              <a:cs typeface="Segoe UI Light"/>
            </a:endParaRPr>
          </a:p>
        </p:txBody>
      </p:sp>
    </p:spTree>
    <p:extLst>
      <p:ext uri="{BB962C8B-B14F-4D97-AF65-F5344CB8AC3E}">
        <p14:creationId xmlns:p14="http://schemas.microsoft.com/office/powerpoint/2010/main" val="1355963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D2D00-8513-4FFA-73D4-E1F1741350D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8844BBB-E66F-845C-54F9-8FF976951FB6}"/>
              </a:ext>
            </a:extLst>
          </p:cNvPr>
          <p:cNvSpPr>
            <a:spLocks noGrp="1"/>
          </p:cNvSpPr>
          <p:nvPr>
            <p:ph type="sldNum" sz="quarter" idx="11"/>
          </p:nvPr>
        </p:nvSpPr>
        <p:spPr/>
        <p:txBody>
          <a:bodyPr/>
          <a:lstStyle/>
          <a:p>
            <a:fld id="{294A09A9-5501-47C1-A89A-A340965A2BE2}" type="slidenum">
              <a:rPr lang="en-US" smtClean="0"/>
              <a:pPr/>
              <a:t>65</a:t>
            </a:fld>
            <a:endParaRPr lang="en-US" dirty="0"/>
          </a:p>
        </p:txBody>
      </p:sp>
      <p:sp>
        <p:nvSpPr>
          <p:cNvPr id="8" name="TextBox 7">
            <a:extLst>
              <a:ext uri="{FF2B5EF4-FFF2-40B4-BE49-F238E27FC236}">
                <a16:creationId xmlns:a16="http://schemas.microsoft.com/office/drawing/2014/main" id="{9A4639E3-D94F-42CE-5339-6B76CE15F9BD}"/>
              </a:ext>
            </a:extLst>
          </p:cNvPr>
          <p:cNvSpPr txBox="1"/>
          <p:nvPr/>
        </p:nvSpPr>
        <p:spPr>
          <a:xfrm>
            <a:off x="1093856" y="1351234"/>
            <a:ext cx="6035515" cy="37191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0">
            <a:extLst>
              <a:ext uri="{FF2B5EF4-FFF2-40B4-BE49-F238E27FC236}">
                <a16:creationId xmlns:a16="http://schemas.microsoft.com/office/drawing/2014/main" id="{3FBAAD2C-31C4-AEF3-D590-8D50045251E7}"/>
              </a:ext>
            </a:extLst>
          </p:cNvPr>
          <p:cNvSpPr txBox="1"/>
          <p:nvPr/>
        </p:nvSpPr>
        <p:spPr>
          <a:xfrm>
            <a:off x="735728" y="770369"/>
            <a:ext cx="7488208"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ea typeface="+mn-lt"/>
                <a:cs typeface="+mn-lt"/>
              </a:rPr>
              <a:t>Business scenario analysis is about studying real situations to make better decisions. First, the problem or challenge is identified—for example, declining sales or supply chain delays. Next, relevant data is collected and examined to understand the root cause. Insights are then generated, leading to possible solutions such as new marketing strategies or system improvements. Finally, outcomes are evaluated, and decisions are refined to ensure long‑term success. This process shows how IT and data systems support practical business problem‑solving.</a:t>
            </a:r>
            <a:endParaRPr lang="en-US" sz="2800" b="1">
              <a:solidFill>
                <a:schemeClr val="bg1"/>
              </a:solidFill>
              <a:cs typeface="Segoe UI Light"/>
            </a:endParaRPr>
          </a:p>
        </p:txBody>
      </p:sp>
    </p:spTree>
    <p:extLst>
      <p:ext uri="{BB962C8B-B14F-4D97-AF65-F5344CB8AC3E}">
        <p14:creationId xmlns:p14="http://schemas.microsoft.com/office/powerpoint/2010/main" val="17850871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8761-56BD-D574-4101-F92FF93F5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1A5C7-B07A-F64D-8CF5-7DAB86731B1D}"/>
              </a:ext>
            </a:extLst>
          </p:cNvPr>
          <p:cNvSpPr>
            <a:spLocks noGrp="1"/>
          </p:cNvSpPr>
          <p:nvPr>
            <p:ph type="ctrTitle"/>
          </p:nvPr>
        </p:nvSpPr>
        <p:spPr>
          <a:xfrm>
            <a:off x="2395002" y="3173984"/>
            <a:ext cx="7735824" cy="1069848"/>
          </a:xfrm>
        </p:spPr>
        <p:txBody>
          <a:bodyPr vert="horz" lIns="91440" tIns="45720" rIns="91440" bIns="45720" rtlCol="0" anchor="ctr">
            <a:noAutofit/>
          </a:bodyPr>
          <a:lstStyle/>
          <a:p>
            <a:pPr algn="l"/>
            <a:r>
              <a:rPr lang="en-US" b="0">
                <a:ea typeface="+mj-lt"/>
                <a:cs typeface="+mj-lt"/>
              </a:rPr>
              <a:t>Introduction to Data Governance &amp; Data Ethics</a:t>
            </a:r>
            <a:endParaRPr lang="en-US"/>
          </a:p>
        </p:txBody>
      </p:sp>
    </p:spTree>
    <p:extLst>
      <p:ext uri="{BB962C8B-B14F-4D97-AF65-F5344CB8AC3E}">
        <p14:creationId xmlns:p14="http://schemas.microsoft.com/office/powerpoint/2010/main" val="19196980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p:txBody>
          <a:bodyPr vert="horz" lIns="91440" tIns="45720" rIns="91440" bIns="45720" rtlCol="0" anchor="ctr">
            <a:noAutofit/>
          </a:bodyPr>
          <a:lstStyle/>
          <a:p>
            <a:r>
              <a:rPr lang="en-US" b="0">
                <a:ea typeface="+mj-lt"/>
                <a:cs typeface="+mj-lt"/>
              </a:rPr>
              <a:t>What is Data Governance?</a:t>
            </a:r>
            <a:endParaRPr lang="en-US"/>
          </a:p>
        </p:txBody>
      </p:sp>
      <p:sp>
        <p:nvSpPr>
          <p:cNvPr id="3" name="Subtitle 2">
            <a:extLst>
              <a:ext uri="{FF2B5EF4-FFF2-40B4-BE49-F238E27FC236}">
                <a16:creationId xmlns:a16="http://schemas.microsoft.com/office/drawing/2014/main" id="{C05FF0B8-5B51-7376-0271-8D849CA3F8A8}"/>
              </a:ext>
            </a:extLst>
          </p:cNvPr>
          <p:cNvSpPr>
            <a:spLocks noGrp="1"/>
          </p:cNvSpPr>
          <p:nvPr>
            <p:ph idx="1"/>
          </p:nvPr>
        </p:nvSpPr>
        <p:spPr>
          <a:xfrm>
            <a:off x="1536192" y="1900791"/>
            <a:ext cx="6422136" cy="3282696"/>
          </a:xfrm>
        </p:spPr>
        <p:txBody>
          <a:bodyPr vert="horz" lIns="91440" tIns="45720" rIns="91440" bIns="45720" rtlCol="0" anchor="t">
            <a:noAutofit/>
          </a:bodyPr>
          <a:lstStyle/>
          <a:p>
            <a:pPr marL="347345" indent="-347345"/>
            <a:r>
              <a:rPr lang="en-US" b="1">
                <a:ea typeface="+mn-lt"/>
                <a:cs typeface="+mn-lt"/>
              </a:rPr>
              <a:t>Framework for managing data assets</a:t>
            </a:r>
            <a:endParaRPr lang="en-US" b="1" dirty="0"/>
          </a:p>
          <a:p>
            <a:pPr marL="347345" indent="-347345"/>
            <a:r>
              <a:rPr lang="en-US" b="1">
                <a:ea typeface="+mn-lt"/>
                <a:cs typeface="+mn-lt"/>
              </a:rPr>
              <a:t>Ensures accuracy, security, and availability</a:t>
            </a:r>
            <a:endParaRPr lang="en-US" b="1" dirty="0"/>
          </a:p>
          <a:p>
            <a:pPr marL="347345" indent="-347345"/>
            <a:r>
              <a:rPr lang="en-US" b="1">
                <a:ea typeface="+mn-lt"/>
                <a:cs typeface="+mn-lt"/>
              </a:rPr>
              <a:t>Aligns data with business goals</a:t>
            </a:r>
            <a:endParaRPr lang="en-US" b="1" dirty="0"/>
          </a:p>
          <a:p>
            <a:pPr marL="347345" indent="-347345"/>
            <a:endParaRPr lang="en-US" b="1" dirty="0"/>
          </a:p>
        </p:txBody>
      </p:sp>
      <p:sp>
        <p:nvSpPr>
          <p:cNvPr id="5" name="TextBox 4">
            <a:extLst>
              <a:ext uri="{FF2B5EF4-FFF2-40B4-BE49-F238E27FC236}">
                <a16:creationId xmlns:a16="http://schemas.microsoft.com/office/drawing/2014/main" id="{14D81015-6960-736F-DE79-25F274D82A29}"/>
              </a:ext>
            </a:extLst>
          </p:cNvPr>
          <p:cNvSpPr txBox="1"/>
          <p:nvPr/>
        </p:nvSpPr>
        <p:spPr>
          <a:xfrm>
            <a:off x="1763039" y="4208131"/>
            <a:ext cx="613846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Data governance is the overall management of data within an organization. It ensures that data is reliable, secure, and used effectively to support business objectives.</a:t>
            </a:r>
            <a:endParaRPr lang="en-US" sz="2400" b="1">
              <a:solidFill>
                <a:schemeClr val="bg1"/>
              </a:solidFill>
              <a:cs typeface="Segoe UI Light"/>
            </a:endParaRPr>
          </a:p>
          <a:p>
            <a:pPr algn="l"/>
            <a:endParaRPr lang="en-US" sz="2400" b="1" dirty="0">
              <a:solidFill>
                <a:schemeClr val="bg1"/>
              </a:solidFill>
              <a:cs typeface="Segoe UI Light"/>
            </a:endParaRPr>
          </a:p>
        </p:txBody>
      </p:sp>
    </p:spTree>
    <p:extLst>
      <p:ext uri="{BB962C8B-B14F-4D97-AF65-F5344CB8AC3E}">
        <p14:creationId xmlns:p14="http://schemas.microsoft.com/office/powerpoint/2010/main" val="5484762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36198-C399-1E2E-0CA4-188DB49BC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9E1A7-7302-7DA2-F227-0988F685646F}"/>
              </a:ext>
            </a:extLst>
          </p:cNvPr>
          <p:cNvSpPr>
            <a:spLocks noGrp="1"/>
          </p:cNvSpPr>
          <p:nvPr>
            <p:ph type="title"/>
          </p:nvPr>
        </p:nvSpPr>
        <p:spPr/>
        <p:txBody>
          <a:bodyPr vert="horz" lIns="91440" tIns="45720" rIns="91440" bIns="45720" rtlCol="0" anchor="ctr">
            <a:noAutofit/>
          </a:bodyPr>
          <a:lstStyle/>
          <a:p>
            <a:r>
              <a:rPr lang="en-US" b="0">
                <a:ea typeface="+mj-lt"/>
                <a:cs typeface="+mj-lt"/>
              </a:rPr>
              <a:t>Policies and Procedures</a:t>
            </a:r>
            <a:endParaRPr lang="en-US"/>
          </a:p>
        </p:txBody>
      </p:sp>
      <p:sp>
        <p:nvSpPr>
          <p:cNvPr id="3" name="Subtitle 2">
            <a:extLst>
              <a:ext uri="{FF2B5EF4-FFF2-40B4-BE49-F238E27FC236}">
                <a16:creationId xmlns:a16="http://schemas.microsoft.com/office/drawing/2014/main" id="{2CCFAE35-5D20-87E6-EF55-66B9174D17D7}"/>
              </a:ext>
            </a:extLst>
          </p:cNvPr>
          <p:cNvSpPr>
            <a:spLocks noGrp="1"/>
          </p:cNvSpPr>
          <p:nvPr>
            <p:ph idx="1"/>
          </p:nvPr>
        </p:nvSpPr>
        <p:spPr>
          <a:xfrm>
            <a:off x="1536192" y="1900791"/>
            <a:ext cx="6393108" cy="1969154"/>
          </a:xfrm>
        </p:spPr>
        <p:txBody>
          <a:bodyPr vert="horz" lIns="91440" tIns="45720" rIns="91440" bIns="45720" rtlCol="0" anchor="t">
            <a:noAutofit/>
          </a:bodyPr>
          <a:lstStyle/>
          <a:p>
            <a:pPr marL="347345" indent="-347345"/>
            <a:r>
              <a:rPr lang="en-US" b="1">
                <a:ea typeface="+mn-lt"/>
                <a:cs typeface="+mn-lt"/>
              </a:rPr>
              <a:t>Define rules for data usage</a:t>
            </a:r>
            <a:endParaRPr lang="en-US" b="1" dirty="0">
              <a:cs typeface="Segoe UI Light"/>
            </a:endParaRPr>
          </a:p>
          <a:p>
            <a:pPr marL="347345" indent="-347345"/>
            <a:r>
              <a:rPr lang="en-US" b="1">
                <a:ea typeface="+mn-lt"/>
                <a:cs typeface="+mn-lt"/>
              </a:rPr>
              <a:t>Establish standards for quality &amp; security</a:t>
            </a:r>
            <a:endParaRPr lang="en-US" b="1"/>
          </a:p>
          <a:p>
            <a:pPr marL="347345" indent="-347345"/>
            <a:r>
              <a:rPr lang="en-US" b="1">
                <a:ea typeface="+mn-lt"/>
                <a:cs typeface="+mn-lt"/>
              </a:rPr>
              <a:t>Guide compliance with regulations</a:t>
            </a:r>
            <a:endParaRPr lang="en-US" b="1"/>
          </a:p>
          <a:p>
            <a:pPr marL="347345" indent="-347345"/>
            <a:endParaRPr lang="en-US" b="1" dirty="0">
              <a:cs typeface="Segoe UI Light"/>
            </a:endParaRPr>
          </a:p>
        </p:txBody>
      </p:sp>
      <p:sp>
        <p:nvSpPr>
          <p:cNvPr id="5" name="TextBox 4">
            <a:extLst>
              <a:ext uri="{FF2B5EF4-FFF2-40B4-BE49-F238E27FC236}">
                <a16:creationId xmlns:a16="http://schemas.microsoft.com/office/drawing/2014/main" id="{4073C186-788C-67A3-B2C9-8E4D67A0BCDC}"/>
              </a:ext>
            </a:extLst>
          </p:cNvPr>
          <p:cNvSpPr txBox="1"/>
          <p:nvPr/>
        </p:nvSpPr>
        <p:spPr>
          <a:xfrm>
            <a:off x="1763039" y="4208131"/>
            <a:ext cx="613846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Policies and procedures set the rules for how data is collected, stored, and shared. They ensure consistency and protect against misuse.</a:t>
            </a:r>
            <a:endParaRPr lang="en-US" b="1">
              <a:solidFill>
                <a:schemeClr val="bg1"/>
              </a:solidFill>
              <a:cs typeface="Segoe UI Light"/>
            </a:endParaRPr>
          </a:p>
          <a:p>
            <a:endParaRPr lang="en-US" sz="2400" b="1" dirty="0">
              <a:solidFill>
                <a:schemeClr val="bg1"/>
              </a:solidFill>
              <a:cs typeface="Segoe UI Light"/>
            </a:endParaRPr>
          </a:p>
        </p:txBody>
      </p:sp>
    </p:spTree>
    <p:extLst>
      <p:ext uri="{BB962C8B-B14F-4D97-AF65-F5344CB8AC3E}">
        <p14:creationId xmlns:p14="http://schemas.microsoft.com/office/powerpoint/2010/main" val="35496591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9AFE1-0D27-7AF9-405C-AC339C096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86278-1B58-9FBD-6AAB-B4658AD7B0ED}"/>
              </a:ext>
            </a:extLst>
          </p:cNvPr>
          <p:cNvSpPr>
            <a:spLocks noGrp="1"/>
          </p:cNvSpPr>
          <p:nvPr>
            <p:ph type="title"/>
          </p:nvPr>
        </p:nvSpPr>
        <p:spPr/>
        <p:txBody>
          <a:bodyPr vert="horz" lIns="91440" tIns="45720" rIns="91440" bIns="45720" rtlCol="0" anchor="ctr">
            <a:noAutofit/>
          </a:bodyPr>
          <a:lstStyle/>
          <a:p>
            <a:r>
              <a:rPr lang="en-US" b="0">
                <a:ea typeface="+mj-lt"/>
                <a:cs typeface="+mj-lt"/>
              </a:rPr>
              <a:t>Roles and Responsibilities</a:t>
            </a:r>
            <a:endParaRPr lang="en-US"/>
          </a:p>
        </p:txBody>
      </p:sp>
      <p:sp>
        <p:nvSpPr>
          <p:cNvPr id="3" name="Subtitle 2">
            <a:extLst>
              <a:ext uri="{FF2B5EF4-FFF2-40B4-BE49-F238E27FC236}">
                <a16:creationId xmlns:a16="http://schemas.microsoft.com/office/drawing/2014/main" id="{2B1A713D-45AF-9E94-0350-8BCDF145F498}"/>
              </a:ext>
            </a:extLst>
          </p:cNvPr>
          <p:cNvSpPr>
            <a:spLocks noGrp="1"/>
          </p:cNvSpPr>
          <p:nvPr>
            <p:ph idx="1"/>
          </p:nvPr>
        </p:nvSpPr>
        <p:spPr>
          <a:xfrm>
            <a:off x="1536192" y="1900791"/>
            <a:ext cx="6393108" cy="1969154"/>
          </a:xfrm>
        </p:spPr>
        <p:txBody>
          <a:bodyPr vert="horz" lIns="91440" tIns="45720" rIns="91440" bIns="45720" rtlCol="0" anchor="t">
            <a:noAutofit/>
          </a:bodyPr>
          <a:lstStyle/>
          <a:p>
            <a:pPr marL="347345" indent="-347345"/>
            <a:r>
              <a:rPr lang="en-US" b="1">
                <a:ea typeface="+mn-lt"/>
                <a:cs typeface="+mn-lt"/>
              </a:rPr>
              <a:t>Data stewards: maintain quality</a:t>
            </a:r>
            <a:endParaRPr lang="en-US" b="1" dirty="0">
              <a:cs typeface="Segoe UI Light"/>
            </a:endParaRPr>
          </a:p>
          <a:p>
            <a:pPr marL="347345" indent="-347345"/>
            <a:r>
              <a:rPr lang="en-US" b="1">
                <a:ea typeface="+mn-lt"/>
                <a:cs typeface="+mn-lt"/>
              </a:rPr>
              <a:t>IT teams: ensure security &amp; infrastructure</a:t>
            </a:r>
            <a:endParaRPr lang="en-US" b="1"/>
          </a:p>
          <a:p>
            <a:pPr marL="347345" indent="-347345"/>
            <a:r>
              <a:rPr lang="en-US" b="1">
                <a:ea typeface="+mn-lt"/>
                <a:cs typeface="+mn-lt"/>
              </a:rPr>
              <a:t>Business leaders: align data with strategy</a:t>
            </a:r>
            <a:endParaRPr lang="en-US" b="1"/>
          </a:p>
          <a:p>
            <a:pPr marL="347345" indent="-347345"/>
            <a:endParaRPr lang="en-US" b="1" dirty="0">
              <a:cs typeface="Segoe UI Light"/>
            </a:endParaRPr>
          </a:p>
        </p:txBody>
      </p:sp>
      <p:sp>
        <p:nvSpPr>
          <p:cNvPr id="5" name="TextBox 4">
            <a:extLst>
              <a:ext uri="{FF2B5EF4-FFF2-40B4-BE49-F238E27FC236}">
                <a16:creationId xmlns:a16="http://schemas.microsoft.com/office/drawing/2014/main" id="{E1EE89BD-27C6-B927-6A97-DCEC2035AD50}"/>
              </a:ext>
            </a:extLst>
          </p:cNvPr>
          <p:cNvSpPr txBox="1"/>
          <p:nvPr/>
        </p:nvSpPr>
        <p:spPr>
          <a:xfrm>
            <a:off x="1763039" y="4208131"/>
            <a:ext cx="613846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Different roles are involved in governance. Data stewards focus on accuracy, IT teams handle security, and business leaders ensure data supports organizational goals.</a:t>
            </a:r>
            <a:endParaRPr lang="en-US" b="1">
              <a:solidFill>
                <a:schemeClr val="bg1"/>
              </a:solidFill>
              <a:cs typeface="Segoe UI Light"/>
            </a:endParaRPr>
          </a:p>
        </p:txBody>
      </p:sp>
    </p:spTree>
    <p:extLst>
      <p:ext uri="{BB962C8B-B14F-4D97-AF65-F5344CB8AC3E}">
        <p14:creationId xmlns:p14="http://schemas.microsoft.com/office/powerpoint/2010/main" val="39691026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F2105-4606-7394-26C8-D8475038A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BA50A-4026-59A1-F754-EE3E149D7A74}"/>
              </a:ext>
            </a:extLst>
          </p:cNvPr>
          <p:cNvSpPr>
            <a:spLocks noGrp="1"/>
          </p:cNvSpPr>
          <p:nvPr>
            <p:ph type="title"/>
          </p:nvPr>
        </p:nvSpPr>
        <p:spPr/>
        <p:txBody>
          <a:bodyPr vert="horz" lIns="91440" tIns="45720" rIns="91440" bIns="45720" rtlCol="0" anchor="ctr">
            <a:noAutofit/>
          </a:bodyPr>
          <a:lstStyle/>
          <a:p>
            <a:r>
              <a:rPr lang="en-US" b="0">
                <a:ea typeface="+mj-lt"/>
                <a:cs typeface="+mj-lt"/>
              </a:rPr>
              <a:t>Principles of Data Ethics</a:t>
            </a:r>
            <a:endParaRPr lang="en-US"/>
          </a:p>
        </p:txBody>
      </p:sp>
      <p:sp>
        <p:nvSpPr>
          <p:cNvPr id="3" name="Subtitle 2">
            <a:extLst>
              <a:ext uri="{FF2B5EF4-FFF2-40B4-BE49-F238E27FC236}">
                <a16:creationId xmlns:a16="http://schemas.microsoft.com/office/drawing/2014/main" id="{9DECA622-455B-BCA9-A321-F3065C1B9C62}"/>
              </a:ext>
            </a:extLst>
          </p:cNvPr>
          <p:cNvSpPr>
            <a:spLocks noGrp="1"/>
          </p:cNvSpPr>
          <p:nvPr>
            <p:ph idx="1"/>
          </p:nvPr>
        </p:nvSpPr>
        <p:spPr>
          <a:xfrm>
            <a:off x="1536192" y="1900791"/>
            <a:ext cx="6393108" cy="1969154"/>
          </a:xfrm>
        </p:spPr>
        <p:txBody>
          <a:bodyPr vert="horz" lIns="91440" tIns="45720" rIns="91440" bIns="45720" rtlCol="0" anchor="t">
            <a:noAutofit/>
          </a:bodyPr>
          <a:lstStyle/>
          <a:p>
            <a:pPr marL="347345" indent="-347345"/>
            <a:r>
              <a:rPr lang="en-US" b="1">
                <a:ea typeface="+mn-lt"/>
                <a:cs typeface="+mn-lt"/>
              </a:rPr>
              <a:t>Fairness in data use</a:t>
            </a:r>
            <a:endParaRPr lang="en-US" b="1" dirty="0">
              <a:cs typeface="Segoe UI Light"/>
            </a:endParaRPr>
          </a:p>
          <a:p>
            <a:pPr marL="347345" indent="-347345"/>
            <a:r>
              <a:rPr lang="en-US" b="1">
                <a:ea typeface="+mn-lt"/>
                <a:cs typeface="+mn-lt"/>
              </a:rPr>
              <a:t>Respect for individuals</a:t>
            </a:r>
            <a:endParaRPr lang="en-US" b="1"/>
          </a:p>
          <a:p>
            <a:pPr marL="347345" indent="-347345"/>
            <a:r>
              <a:rPr lang="en-US" b="1">
                <a:ea typeface="+mn-lt"/>
                <a:cs typeface="+mn-lt"/>
              </a:rPr>
              <a:t>Responsible handling of information</a:t>
            </a:r>
            <a:endParaRPr lang="en-US" b="1"/>
          </a:p>
          <a:p>
            <a:pPr marL="347345" indent="-347345"/>
            <a:endParaRPr lang="en-US" b="1" dirty="0">
              <a:cs typeface="Segoe UI Light"/>
            </a:endParaRPr>
          </a:p>
        </p:txBody>
      </p:sp>
      <p:sp>
        <p:nvSpPr>
          <p:cNvPr id="5" name="TextBox 4">
            <a:extLst>
              <a:ext uri="{FF2B5EF4-FFF2-40B4-BE49-F238E27FC236}">
                <a16:creationId xmlns:a16="http://schemas.microsoft.com/office/drawing/2014/main" id="{ECA202A5-7F10-A160-9281-EE31B232A99F}"/>
              </a:ext>
            </a:extLst>
          </p:cNvPr>
          <p:cNvSpPr txBox="1"/>
          <p:nvPr/>
        </p:nvSpPr>
        <p:spPr>
          <a:xfrm>
            <a:off x="1538068" y="4360531"/>
            <a:ext cx="613846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Data ethics ensures that data is used in ways that respect people’s rights and avoid harm. It emphasizes fairness and responsibility.</a:t>
            </a:r>
            <a:endParaRPr lang="en-US" b="1">
              <a:solidFill>
                <a:schemeClr val="bg1"/>
              </a:solidFill>
              <a:cs typeface="Segoe UI Light"/>
            </a:endParaRPr>
          </a:p>
          <a:p>
            <a:endParaRPr lang="en-US" sz="2400" b="1" dirty="0">
              <a:solidFill>
                <a:schemeClr val="bg1"/>
              </a:solidFill>
              <a:cs typeface="Segoe UI Light"/>
            </a:endParaRPr>
          </a:p>
        </p:txBody>
      </p:sp>
    </p:spTree>
    <p:extLst>
      <p:ext uri="{BB962C8B-B14F-4D97-AF65-F5344CB8AC3E}">
        <p14:creationId xmlns:p14="http://schemas.microsoft.com/office/powerpoint/2010/main" val="27559188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71941-F204-8721-2214-6F3C2BD83C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CF962-0B52-DD68-A2A7-D7D5A4A11584}"/>
              </a:ext>
            </a:extLst>
          </p:cNvPr>
          <p:cNvSpPr>
            <a:spLocks noGrp="1"/>
          </p:cNvSpPr>
          <p:nvPr>
            <p:ph type="title"/>
          </p:nvPr>
        </p:nvSpPr>
        <p:spPr/>
        <p:txBody>
          <a:bodyPr vert="horz" lIns="91440" tIns="45720" rIns="91440" bIns="45720" rtlCol="0" anchor="ctr">
            <a:noAutofit/>
          </a:bodyPr>
          <a:lstStyle/>
          <a:p>
            <a:r>
              <a:rPr lang="en-US" b="0">
                <a:ea typeface="+mj-lt"/>
                <a:cs typeface="+mj-lt"/>
              </a:rPr>
              <a:t>Privacy and Confidentiality</a:t>
            </a:r>
            <a:endParaRPr lang="en-US"/>
          </a:p>
        </p:txBody>
      </p:sp>
      <p:sp>
        <p:nvSpPr>
          <p:cNvPr id="3" name="Subtitle 2">
            <a:extLst>
              <a:ext uri="{FF2B5EF4-FFF2-40B4-BE49-F238E27FC236}">
                <a16:creationId xmlns:a16="http://schemas.microsoft.com/office/drawing/2014/main" id="{F30B665D-D115-BBEA-7CB4-565849304717}"/>
              </a:ext>
            </a:extLst>
          </p:cNvPr>
          <p:cNvSpPr>
            <a:spLocks noGrp="1"/>
          </p:cNvSpPr>
          <p:nvPr>
            <p:ph idx="1"/>
          </p:nvPr>
        </p:nvSpPr>
        <p:spPr>
          <a:xfrm>
            <a:off x="1536192" y="1900791"/>
            <a:ext cx="6393108" cy="1969154"/>
          </a:xfrm>
        </p:spPr>
        <p:txBody>
          <a:bodyPr vert="horz" lIns="91440" tIns="45720" rIns="91440" bIns="45720" rtlCol="0" anchor="t">
            <a:noAutofit/>
          </a:bodyPr>
          <a:lstStyle/>
          <a:p>
            <a:pPr marL="347345" indent="-347345"/>
            <a:r>
              <a:rPr lang="en-US" b="1">
                <a:ea typeface="+mn-lt"/>
                <a:cs typeface="+mn-lt"/>
              </a:rPr>
              <a:t>Protect personal information</a:t>
            </a:r>
            <a:endParaRPr lang="en-US" b="1" dirty="0">
              <a:cs typeface="Segoe UI Light"/>
            </a:endParaRPr>
          </a:p>
          <a:p>
            <a:pPr marL="347345" indent="-347345"/>
            <a:r>
              <a:rPr lang="en-US" b="1">
                <a:ea typeface="+mn-lt"/>
                <a:cs typeface="+mn-lt"/>
              </a:rPr>
              <a:t>Limit access to sensitive data</a:t>
            </a:r>
            <a:endParaRPr lang="en-US" b="1"/>
          </a:p>
          <a:p>
            <a:pPr marL="347345" indent="-347345"/>
            <a:r>
              <a:rPr lang="en-US" b="1">
                <a:ea typeface="+mn-lt"/>
                <a:cs typeface="+mn-lt"/>
              </a:rPr>
              <a:t>Follow consent and legal requirements</a:t>
            </a:r>
            <a:endParaRPr lang="en-US" b="1"/>
          </a:p>
          <a:p>
            <a:pPr marL="347345" indent="-347345"/>
            <a:endParaRPr lang="en-US" b="1" dirty="0">
              <a:cs typeface="Segoe UI Light"/>
            </a:endParaRPr>
          </a:p>
        </p:txBody>
      </p:sp>
      <p:sp>
        <p:nvSpPr>
          <p:cNvPr id="5" name="TextBox 4">
            <a:extLst>
              <a:ext uri="{FF2B5EF4-FFF2-40B4-BE49-F238E27FC236}">
                <a16:creationId xmlns:a16="http://schemas.microsoft.com/office/drawing/2014/main" id="{CB959A9E-E494-6CD1-AA5D-A9E3687D4A80}"/>
              </a:ext>
            </a:extLst>
          </p:cNvPr>
          <p:cNvSpPr txBox="1"/>
          <p:nvPr/>
        </p:nvSpPr>
        <p:spPr>
          <a:xfrm>
            <a:off x="1538068" y="4360531"/>
            <a:ext cx="613846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Privacy means safeguarding personal data. Confidentiality ensures only authorized people can access sensitive information, protecting individuals and organizations.</a:t>
            </a:r>
            <a:endParaRPr lang="en-US" b="1">
              <a:solidFill>
                <a:schemeClr val="bg1"/>
              </a:solidFill>
              <a:cs typeface="Segoe UI Light"/>
            </a:endParaRPr>
          </a:p>
          <a:p>
            <a:endParaRPr lang="en-US" sz="2400" b="1" dirty="0">
              <a:solidFill>
                <a:schemeClr val="bg1"/>
              </a:solidFill>
              <a:cs typeface="Segoe UI Light"/>
            </a:endParaRPr>
          </a:p>
        </p:txBody>
      </p:sp>
    </p:spTree>
    <p:extLst>
      <p:ext uri="{BB962C8B-B14F-4D97-AF65-F5344CB8AC3E}">
        <p14:creationId xmlns:p14="http://schemas.microsoft.com/office/powerpoint/2010/main" val="35439489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82BA4-96C4-DE37-ECD8-F40EDCF6D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4D574-A7C9-B274-8F8D-EE8AEDFBCED5}"/>
              </a:ext>
            </a:extLst>
          </p:cNvPr>
          <p:cNvSpPr>
            <a:spLocks noGrp="1"/>
          </p:cNvSpPr>
          <p:nvPr>
            <p:ph type="title"/>
          </p:nvPr>
        </p:nvSpPr>
        <p:spPr/>
        <p:txBody>
          <a:bodyPr vert="horz" lIns="91440" tIns="45720" rIns="91440" bIns="45720" rtlCol="0" anchor="ctr">
            <a:noAutofit/>
          </a:bodyPr>
          <a:lstStyle/>
          <a:p>
            <a:r>
              <a:rPr lang="en-US" b="0">
                <a:ea typeface="+mj-lt"/>
                <a:cs typeface="+mj-lt"/>
              </a:rPr>
              <a:t>Transparency and Accountability</a:t>
            </a:r>
            <a:endParaRPr lang="en-US"/>
          </a:p>
        </p:txBody>
      </p:sp>
      <p:sp>
        <p:nvSpPr>
          <p:cNvPr id="3" name="Subtitle 2">
            <a:extLst>
              <a:ext uri="{FF2B5EF4-FFF2-40B4-BE49-F238E27FC236}">
                <a16:creationId xmlns:a16="http://schemas.microsoft.com/office/drawing/2014/main" id="{6C0C1F3A-9F1D-EA73-98C6-2662F5BE0F31}"/>
              </a:ext>
            </a:extLst>
          </p:cNvPr>
          <p:cNvSpPr>
            <a:spLocks noGrp="1"/>
          </p:cNvSpPr>
          <p:nvPr>
            <p:ph idx="1"/>
          </p:nvPr>
        </p:nvSpPr>
        <p:spPr>
          <a:xfrm>
            <a:off x="1536192" y="1900791"/>
            <a:ext cx="6393108" cy="1969154"/>
          </a:xfrm>
        </p:spPr>
        <p:txBody>
          <a:bodyPr vert="horz" lIns="91440" tIns="45720" rIns="91440" bIns="45720" rtlCol="0" anchor="t">
            <a:noAutofit/>
          </a:bodyPr>
          <a:lstStyle/>
          <a:p>
            <a:pPr marL="347345" indent="-347345"/>
            <a:r>
              <a:rPr lang="en-US" b="1">
                <a:ea typeface="+mn-lt"/>
                <a:cs typeface="+mn-lt"/>
              </a:rPr>
              <a:t>Clear policies on data use</a:t>
            </a:r>
            <a:endParaRPr lang="en-US" b="1" dirty="0">
              <a:cs typeface="Segoe UI Light"/>
            </a:endParaRPr>
          </a:p>
          <a:p>
            <a:pPr marL="347345" indent="-347345"/>
            <a:r>
              <a:rPr lang="en-US" b="1">
                <a:ea typeface="+mn-lt"/>
                <a:cs typeface="+mn-lt"/>
              </a:rPr>
              <a:t>Explain how data is collected &amp; shared</a:t>
            </a:r>
            <a:endParaRPr lang="en-US" b="1"/>
          </a:p>
          <a:p>
            <a:pPr marL="347345" indent="-347345"/>
            <a:r>
              <a:rPr lang="en-US" b="1">
                <a:ea typeface="+mn-lt"/>
                <a:cs typeface="+mn-lt"/>
              </a:rPr>
              <a:t>Hold organizations accountable</a:t>
            </a:r>
            <a:endParaRPr lang="en-US" b="1"/>
          </a:p>
          <a:p>
            <a:pPr marL="347345" indent="-347345"/>
            <a:endParaRPr lang="en-US" b="1" dirty="0">
              <a:cs typeface="Segoe UI Light"/>
            </a:endParaRPr>
          </a:p>
        </p:txBody>
      </p:sp>
      <p:sp>
        <p:nvSpPr>
          <p:cNvPr id="5" name="TextBox 4">
            <a:extLst>
              <a:ext uri="{FF2B5EF4-FFF2-40B4-BE49-F238E27FC236}">
                <a16:creationId xmlns:a16="http://schemas.microsoft.com/office/drawing/2014/main" id="{0DD9392B-BAA2-3710-D60F-59A574E31E1D}"/>
              </a:ext>
            </a:extLst>
          </p:cNvPr>
          <p:cNvSpPr txBox="1"/>
          <p:nvPr/>
        </p:nvSpPr>
        <p:spPr>
          <a:xfrm>
            <a:off x="1538068" y="4360531"/>
            <a:ext cx="613846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Transparency builds trust by showing how data is handled. Accountability means organizations take responsibility for misuse or breaches.</a:t>
            </a:r>
            <a:endParaRPr lang="en-US" b="1">
              <a:solidFill>
                <a:schemeClr val="bg1"/>
              </a:solidFill>
              <a:ea typeface="+mn-lt"/>
              <a:cs typeface="+mn-lt"/>
            </a:endParaRPr>
          </a:p>
          <a:p>
            <a:endParaRPr lang="en-US" sz="2400" b="1" dirty="0">
              <a:solidFill>
                <a:schemeClr val="bg1"/>
              </a:solidFill>
              <a:cs typeface="Segoe UI Light"/>
            </a:endParaRPr>
          </a:p>
        </p:txBody>
      </p:sp>
    </p:spTree>
    <p:extLst>
      <p:ext uri="{BB962C8B-B14F-4D97-AF65-F5344CB8AC3E}">
        <p14:creationId xmlns:p14="http://schemas.microsoft.com/office/powerpoint/2010/main" val="4067056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D2868-E063-1CDF-AC73-960D5BC92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4A9F6-C39C-9FC0-512D-826ED911B926}"/>
              </a:ext>
            </a:extLst>
          </p:cNvPr>
          <p:cNvSpPr>
            <a:spLocks noGrp="1"/>
          </p:cNvSpPr>
          <p:nvPr>
            <p:ph type="title"/>
          </p:nvPr>
        </p:nvSpPr>
        <p:spPr/>
        <p:txBody>
          <a:bodyPr vert="horz" lIns="91440" tIns="45720" rIns="91440" bIns="45720" rtlCol="0" anchor="ctr">
            <a:noAutofit/>
          </a:bodyPr>
          <a:lstStyle/>
          <a:p>
            <a:r>
              <a:rPr lang="en-US" b="0">
                <a:ea typeface="+mj-lt"/>
                <a:cs typeface="+mj-lt"/>
              </a:rPr>
              <a:t>Regulatory Compliance</a:t>
            </a:r>
            <a:endParaRPr lang="en-US"/>
          </a:p>
        </p:txBody>
      </p:sp>
      <p:sp>
        <p:nvSpPr>
          <p:cNvPr id="3" name="Subtitle 2">
            <a:extLst>
              <a:ext uri="{FF2B5EF4-FFF2-40B4-BE49-F238E27FC236}">
                <a16:creationId xmlns:a16="http://schemas.microsoft.com/office/drawing/2014/main" id="{09FF18F2-0A9E-1D3F-B38A-36EF85DF5E3A}"/>
              </a:ext>
            </a:extLst>
          </p:cNvPr>
          <p:cNvSpPr>
            <a:spLocks noGrp="1"/>
          </p:cNvSpPr>
          <p:nvPr>
            <p:ph idx="1"/>
          </p:nvPr>
        </p:nvSpPr>
        <p:spPr>
          <a:xfrm>
            <a:off x="1536192" y="1900791"/>
            <a:ext cx="6393108" cy="1969154"/>
          </a:xfrm>
        </p:spPr>
        <p:txBody>
          <a:bodyPr vert="horz" lIns="91440" tIns="45720" rIns="91440" bIns="45720" rtlCol="0" anchor="t">
            <a:noAutofit/>
          </a:bodyPr>
          <a:lstStyle/>
          <a:p>
            <a:pPr marL="347345" indent="-347345"/>
            <a:r>
              <a:rPr lang="en-US" b="1">
                <a:ea typeface="+mn-lt"/>
                <a:cs typeface="+mn-lt"/>
              </a:rPr>
              <a:t>GDPR (Europe): protects personal data</a:t>
            </a:r>
            <a:endParaRPr lang="en-US" b="1" dirty="0">
              <a:cs typeface="Segoe UI Light"/>
            </a:endParaRPr>
          </a:p>
          <a:p>
            <a:pPr marL="347345" indent="-347345"/>
            <a:r>
              <a:rPr lang="en-US" b="1">
                <a:ea typeface="+mn-lt"/>
                <a:cs typeface="+mn-lt"/>
              </a:rPr>
              <a:t>CCPA (California): consumer privacy rights</a:t>
            </a:r>
            <a:endParaRPr lang="en-US" b="1"/>
          </a:p>
          <a:p>
            <a:pPr marL="347345" indent="-347345"/>
            <a:r>
              <a:rPr lang="en-US" b="1">
                <a:ea typeface="+mn-lt"/>
                <a:cs typeface="+mn-lt"/>
              </a:rPr>
              <a:t>Organizations must follow laws globally</a:t>
            </a:r>
            <a:endParaRPr lang="en-US" b="1"/>
          </a:p>
          <a:p>
            <a:pPr marL="347345" indent="-347345"/>
            <a:endParaRPr lang="en-US" b="1" dirty="0">
              <a:cs typeface="Segoe UI Light"/>
            </a:endParaRPr>
          </a:p>
        </p:txBody>
      </p:sp>
      <p:sp>
        <p:nvSpPr>
          <p:cNvPr id="5" name="TextBox 4">
            <a:extLst>
              <a:ext uri="{FF2B5EF4-FFF2-40B4-BE49-F238E27FC236}">
                <a16:creationId xmlns:a16="http://schemas.microsoft.com/office/drawing/2014/main" id="{0D9CD741-7C92-C028-E16E-5F9D99D5A831}"/>
              </a:ext>
            </a:extLst>
          </p:cNvPr>
          <p:cNvSpPr txBox="1"/>
          <p:nvPr/>
        </p:nvSpPr>
        <p:spPr>
          <a:xfrm>
            <a:off x="1538068" y="4360531"/>
            <a:ext cx="613846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Regulations like GDPR and CCPA set strict rules for data protection. Companies must comply to avoid penalties and maintain trust.</a:t>
            </a:r>
            <a:endParaRPr lang="en-US" b="1">
              <a:solidFill>
                <a:schemeClr val="bg1"/>
              </a:solidFill>
              <a:cs typeface="Segoe UI Light"/>
            </a:endParaRPr>
          </a:p>
        </p:txBody>
      </p:sp>
    </p:spTree>
    <p:extLst>
      <p:ext uri="{BB962C8B-B14F-4D97-AF65-F5344CB8AC3E}">
        <p14:creationId xmlns:p14="http://schemas.microsoft.com/office/powerpoint/2010/main" val="533507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522CB-14B6-7233-B228-7E8779F44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5A429-A151-F048-538A-0160F0F60C3F}"/>
              </a:ext>
            </a:extLst>
          </p:cNvPr>
          <p:cNvSpPr>
            <a:spLocks noGrp="1"/>
          </p:cNvSpPr>
          <p:nvPr>
            <p:ph type="title"/>
          </p:nvPr>
        </p:nvSpPr>
        <p:spPr/>
        <p:txBody>
          <a:bodyPr vert="horz" lIns="91440" tIns="45720" rIns="91440" bIns="45720" rtlCol="0" anchor="ctr">
            <a:noAutofit/>
          </a:bodyPr>
          <a:lstStyle/>
          <a:p>
            <a:r>
              <a:rPr lang="en-US" b="0">
                <a:ea typeface="+mj-lt"/>
                <a:cs typeface="+mj-lt"/>
              </a:rPr>
              <a:t>Building a Culture of Responsible Data Use</a:t>
            </a:r>
            <a:endParaRPr lang="en-US"/>
          </a:p>
        </p:txBody>
      </p:sp>
      <p:sp>
        <p:nvSpPr>
          <p:cNvPr id="3" name="Subtitle 2">
            <a:extLst>
              <a:ext uri="{FF2B5EF4-FFF2-40B4-BE49-F238E27FC236}">
                <a16:creationId xmlns:a16="http://schemas.microsoft.com/office/drawing/2014/main" id="{E71A805D-E604-F765-3686-D24F9DE2DDF9}"/>
              </a:ext>
            </a:extLst>
          </p:cNvPr>
          <p:cNvSpPr>
            <a:spLocks noGrp="1"/>
          </p:cNvSpPr>
          <p:nvPr>
            <p:ph idx="1"/>
          </p:nvPr>
        </p:nvSpPr>
        <p:spPr>
          <a:xfrm>
            <a:off x="1536192" y="1900791"/>
            <a:ext cx="6393108" cy="1969154"/>
          </a:xfrm>
        </p:spPr>
        <p:txBody>
          <a:bodyPr vert="horz" lIns="91440" tIns="45720" rIns="91440" bIns="45720" rtlCol="0" anchor="t">
            <a:noAutofit/>
          </a:bodyPr>
          <a:lstStyle/>
          <a:p>
            <a:pPr marL="347345" indent="-347345"/>
            <a:r>
              <a:rPr lang="en-US" b="1">
                <a:ea typeface="+mn-lt"/>
                <a:cs typeface="+mn-lt"/>
              </a:rPr>
              <a:t>Train employees on ethics &amp; governance</a:t>
            </a:r>
            <a:endParaRPr lang="en-US" b="1" dirty="0">
              <a:cs typeface="Segoe UI Light"/>
            </a:endParaRPr>
          </a:p>
          <a:p>
            <a:pPr marL="347345" indent="-347345"/>
            <a:r>
              <a:rPr lang="en-US" b="1">
                <a:ea typeface="+mn-lt"/>
                <a:cs typeface="+mn-lt"/>
              </a:rPr>
              <a:t>Encourage responsible practices</a:t>
            </a:r>
            <a:endParaRPr lang="en-US" b="1"/>
          </a:p>
          <a:p>
            <a:pPr marL="347345" indent="-347345"/>
            <a:r>
              <a:rPr lang="en-US" b="1">
                <a:ea typeface="+mn-lt"/>
                <a:cs typeface="+mn-lt"/>
              </a:rPr>
              <a:t>Promote trust and integrity</a:t>
            </a:r>
            <a:endParaRPr lang="en-US" b="1"/>
          </a:p>
          <a:p>
            <a:pPr marL="347345" indent="-347345"/>
            <a:endParaRPr lang="en-US" b="1" dirty="0">
              <a:cs typeface="Segoe UI Light"/>
            </a:endParaRPr>
          </a:p>
        </p:txBody>
      </p:sp>
      <p:sp>
        <p:nvSpPr>
          <p:cNvPr id="5" name="TextBox 4">
            <a:extLst>
              <a:ext uri="{FF2B5EF4-FFF2-40B4-BE49-F238E27FC236}">
                <a16:creationId xmlns:a16="http://schemas.microsoft.com/office/drawing/2014/main" id="{55272FA7-6EEC-E510-269B-8398CD641E42}"/>
              </a:ext>
            </a:extLst>
          </p:cNvPr>
          <p:cNvSpPr txBox="1"/>
          <p:nvPr/>
        </p:nvSpPr>
        <p:spPr>
          <a:xfrm>
            <a:off x="1538068" y="4360531"/>
            <a:ext cx="613846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Responsible data use requires a cultural shift. Employees must be trained, and organizations should encourage ethical practices to build trust.</a:t>
            </a:r>
            <a:endParaRPr lang="en-US" b="1">
              <a:solidFill>
                <a:schemeClr val="bg1"/>
              </a:solidFill>
              <a:cs typeface="Segoe UI Light"/>
            </a:endParaRPr>
          </a:p>
        </p:txBody>
      </p:sp>
    </p:spTree>
    <p:extLst>
      <p:ext uri="{BB962C8B-B14F-4D97-AF65-F5344CB8AC3E}">
        <p14:creationId xmlns:p14="http://schemas.microsoft.com/office/powerpoint/2010/main" val="39135482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p:txBody>
          <a:bodyPr vert="horz" lIns="91440" tIns="45720" rIns="91440" bIns="45720" rtlCol="0" anchor="t">
            <a:noAutofit/>
          </a:bodyPr>
          <a:lstStyle/>
          <a:p>
            <a:r>
              <a:rPr lang="en-US">
                <a:latin typeface="Segoe UI Light"/>
                <a:cs typeface="Segoe UI Light"/>
              </a:rPr>
              <a:t>TANMAY BAIRAGI</a:t>
            </a:r>
            <a:endParaRPr lang="en-US" dirty="0">
              <a:latin typeface="Segoe UI Light"/>
              <a:cs typeface="Segoe UI Light"/>
            </a:endParaRPr>
          </a:p>
          <a:p>
            <a:pPr algn="l"/>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CF8670-35D1-4455-AC7A-762B7388BE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4A3FD6-E6BF-490E-B6B4-6A011394B0E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3C4A95C-9007-4EA6-944B-306B6F2A010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TM66925244</Template>
  <TotalTime>0</TotalTime>
  <Words>2522</Words>
  <Application>Microsoft Office PowerPoint</Application>
  <PresentationFormat>Widescreen</PresentationFormat>
  <Paragraphs>317</Paragraphs>
  <Slides>75</Slides>
  <Notes>0</Notes>
  <HiddenSlides>0</HiddenSlides>
  <MMClips>0</MMClips>
  <ScaleCrop>false</ScaleCrop>
  <HeadingPairs>
    <vt:vector size="4" baseType="variant">
      <vt:variant>
        <vt:lpstr>Theme</vt:lpstr>
      </vt:variant>
      <vt:variant>
        <vt:i4>1</vt:i4>
      </vt:variant>
      <vt:variant>
        <vt:lpstr>Slide Titles</vt:lpstr>
      </vt:variant>
      <vt:variant>
        <vt:i4>75</vt:i4>
      </vt:variant>
    </vt:vector>
  </HeadingPairs>
  <TitlesOfParts>
    <vt:vector size="76" baseType="lpstr">
      <vt:lpstr>Office Theme</vt:lpstr>
      <vt:lpstr>IT</vt:lpstr>
      <vt:lpstr>CONTENTS</vt:lpstr>
      <vt:lpstr>Introduction to IT andBusiness Systems</vt:lpstr>
      <vt:lpstr>Fundamentals ofInformationTechnology</vt:lpstr>
      <vt:lpstr>Components of IT</vt:lpstr>
      <vt:lpstr>Role of IT in Business Operations</vt:lpstr>
      <vt:lpstr>Role of IT in Business Operations</vt:lpstr>
      <vt:lpstr>Overview of Business Systems</vt:lpstr>
      <vt:lpstr>ERP Example</vt:lpstr>
      <vt:lpstr>CRM Example</vt:lpstr>
      <vt:lpstr>Interplay between IT &amp; Business Strategy</vt:lpstr>
      <vt:lpstr>Data Types, Sources, and Lifecycle </vt:lpstr>
      <vt:lpstr>Understanding Different Data Types</vt:lpstr>
      <vt:lpstr>PowerPoint Presentation</vt:lpstr>
      <vt:lpstr>Common Data Sources</vt:lpstr>
      <vt:lpstr>PowerPoint Presentation</vt:lpstr>
      <vt:lpstr>Data Collection Methods</vt:lpstr>
      <vt:lpstr>PowerPoint Presentation</vt:lpstr>
      <vt:lpstr>Data Lifecycle Management</vt:lpstr>
      <vt:lpstr>PowerPoint Presentation</vt:lpstr>
      <vt:lpstr>Data Quality and Integrity</vt:lpstr>
      <vt:lpstr>PowerPoint Presentation</vt:lpstr>
      <vt:lpstr>Introduction to Business Analyst Role</vt:lpstr>
      <vt:lpstr>Definition of a Business Analyst</vt:lpstr>
      <vt:lpstr>PowerPoint Presentation</vt:lpstr>
      <vt:lpstr>Responsibilities of a Business Analyst</vt:lpstr>
      <vt:lpstr>PowerPoint Presentation</vt:lpstr>
      <vt:lpstr>Key Skills: Communication</vt:lpstr>
      <vt:lpstr>PowerPoint Presentation</vt:lpstr>
      <vt:lpstr>Key Skills: Analytical Thinking</vt:lpstr>
      <vt:lpstr>PowerPoint Presentation</vt:lpstr>
      <vt:lpstr>Key Skills: Problem-Solving</vt:lpstr>
      <vt:lpstr>PowerPoint Presentation</vt:lpstr>
      <vt:lpstr>Business Analysis Methodologies</vt:lpstr>
      <vt:lpstr>PowerPoint Presentation</vt:lpstr>
      <vt:lpstr>Agile Methodology in BA</vt:lpstr>
      <vt:lpstr>PowerPoint Presentation</vt:lpstr>
      <vt:lpstr>Stakeholder Management</vt:lpstr>
      <vt:lpstr>PowerPoint Presentation</vt:lpstr>
      <vt:lpstr>Data vs. Information</vt:lpstr>
      <vt:lpstr>Introduction to Data and Information</vt:lpstr>
      <vt:lpstr>PowerPoint Presentation</vt:lpstr>
      <vt:lpstr>Raw Data Characteristics</vt:lpstr>
      <vt:lpstr>PowerPoint Presentation</vt:lpstr>
      <vt:lpstr>Processed Information Characteristics</vt:lpstr>
      <vt:lpstr>PowerPoint Presentation</vt:lpstr>
      <vt:lpstr>Distinguishing Data vs. Information</vt:lpstr>
      <vt:lpstr>Transformation Process</vt:lpstr>
      <vt:lpstr>Data to Information Example </vt:lpstr>
      <vt:lpstr>Value of Information in Decision Making</vt:lpstr>
      <vt:lpstr>Business Example</vt:lpstr>
      <vt:lpstr>Overview of Data‑Driven Decision Making</vt:lpstr>
      <vt:lpstr>Introduction to Data‑Driven Decision Making</vt:lpstr>
      <vt:lpstr>Principles of Data‑Driven Decision Making(PART1)</vt:lpstr>
      <vt:lpstr>Principles of Data‑Driven Decision Making (Part 2)</vt:lpstr>
      <vt:lpstr>Benefits of Using Data for Decisions (Part 1)</vt:lpstr>
      <vt:lpstr>Benefits of Using Data for Decisions (Part 2)</vt:lpstr>
      <vt:lpstr>Steps in the Data‑Driven Decision Process (Part 1)</vt:lpstr>
      <vt:lpstr>Steps in the Data‑Driven Decision Process (Part 2)</vt:lpstr>
      <vt:lpstr>Challenges and Pitfalls</vt:lpstr>
      <vt:lpstr>Case Discussions / Real-Life Examples </vt:lpstr>
      <vt:lpstr>Analysis of Business Scenarios</vt:lpstr>
      <vt:lpstr>Analysis of Business Scenarios</vt:lpstr>
      <vt:lpstr>Analysis of Business Scenarios</vt:lpstr>
      <vt:lpstr>PowerPoint Presentation</vt:lpstr>
      <vt:lpstr>Introduction to Data Governance &amp; Data Ethics</vt:lpstr>
      <vt:lpstr>What is Data Governance?</vt:lpstr>
      <vt:lpstr>Policies and Procedures</vt:lpstr>
      <vt:lpstr>Roles and Responsibilities</vt:lpstr>
      <vt:lpstr>Principles of Data Ethics</vt:lpstr>
      <vt:lpstr>Privacy and Confidentiality</vt:lpstr>
      <vt:lpstr>Transparency and Accountability</vt:lpstr>
      <vt:lpstr>Regulatory Compliance</vt:lpstr>
      <vt:lpstr>Building a Culture of Responsible Data Use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Tanmay Bairagi</cp:lastModifiedBy>
  <cp:revision>409</cp:revision>
  <dcterms:created xsi:type="dcterms:W3CDTF">2026-07-24T18:26:25Z</dcterms:created>
  <dcterms:modified xsi:type="dcterms:W3CDTF">2026-07-26T05:49:02Z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